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68"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B924C2-2411-24A8-96AC-7D41A02AAFB6}" v="33" dt="2025-12-02T18:56:56.583"/>
    <p1510:client id="{7704AD9D-9E82-851B-4F62-638D68F61115}" v="8" dt="2025-12-02T06:15:09.319"/>
    <p1510:client id="{D5B25846-DD6F-0B4B-0740-3946264AAAB2}" v="70" dt="2025-12-02T06:13:49.0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163" d="100"/>
          <a:sy n="163" d="100"/>
        </p:scale>
        <p:origin x="1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AC5D33C8-86BA-4061-9449-55BC8500176E}" type="datetimeFigureOut">
              <a:t>12/3/25</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EE9ACB2-DAEC-44C1-A55E-749EF82A0A2A}" type="slidenum">
              <a:t>‹#›</a:t>
            </a:fld>
            <a:endParaRPr lang="en-US"/>
          </a:p>
        </p:txBody>
      </p:sp>
    </p:spTree>
    <p:extLst>
      <p:ext uri="{BB962C8B-B14F-4D97-AF65-F5344CB8AC3E}">
        <p14:creationId xmlns:p14="http://schemas.microsoft.com/office/powerpoint/2010/main" val="1595020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DA642-651C-160C-47E5-6249AE7A2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7B8E7-C3FD-C870-7B43-23B22461A6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FCBB0-FB45-5384-E3B6-D94CC05569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89B7B9-1790-D21F-A7A8-BBABB157A75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179551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972471"/>
            <a:ext cx="3714750" cy="1920218"/>
          </a:xfrm>
          <a:prstGeom prst="rect">
            <a:avLst/>
          </a:prstGeom>
          <a:noFill/>
          <a:ln/>
        </p:spPr>
        <p:txBody>
          <a:bodyPr wrap="square" lIns="0" tIns="0" rIns="0" bIns="0" rtlCol="0" anchor="t">
            <a:spAutoFit/>
          </a:bodyPr>
          <a:lstStyle/>
          <a:p>
            <a:pPr marL="0" indent="0" algn="l">
              <a:lnSpc>
                <a:spcPts val="3800"/>
              </a:lnSpc>
              <a:buNone/>
            </a:pPr>
            <a:r>
              <a:rPr lang="en-US" sz="2862" b="1" kern="0" spc="-1" dirty="0">
                <a:solidFill>
                  <a:srgbClr val="1A1A1A"/>
                </a:solidFill>
              </a:rPr>
              <a:t>Fashion Data Warehouse Implementation on Snowflake</a:t>
            </a:r>
            <a:endParaRPr lang="en-US" sz="2862" dirty="0"/>
          </a:p>
        </p:txBody>
      </p:sp>
      <p:sp>
        <p:nvSpPr>
          <p:cNvPr id="4" name="Text 1"/>
          <p:cNvSpPr/>
          <p:nvPr/>
        </p:nvSpPr>
        <p:spPr>
          <a:xfrm>
            <a:off x="428625" y="3107001"/>
            <a:ext cx="3714750" cy="480027"/>
          </a:xfrm>
          <a:prstGeom prst="rect">
            <a:avLst/>
          </a:prstGeom>
          <a:noFill/>
          <a:ln/>
        </p:spPr>
        <p:txBody>
          <a:bodyPr wrap="square" lIns="0" tIns="0" rIns="0" bIns="0" rtlCol="0" anchor="t">
            <a:spAutoFit/>
          </a:bodyPr>
          <a:lstStyle/>
          <a:p>
            <a:pPr marL="0" indent="0" algn="l">
              <a:lnSpc>
                <a:spcPts val="1900"/>
              </a:lnSpc>
              <a:buNone/>
            </a:pPr>
            <a:r>
              <a:rPr lang="en-US" sz="1269" i="1" dirty="0">
                <a:solidFill>
                  <a:srgbClr val="C44D58"/>
                </a:solidFill>
              </a:rPr>
              <a:t>Transforming Raw Data into Business Intelligence</a:t>
            </a:r>
            <a:endParaRPr lang="en-US" sz="1269" dirty="0"/>
          </a:p>
        </p:txBody>
      </p:sp>
      <p:sp>
        <p:nvSpPr>
          <p:cNvPr id="5" name="Text 2"/>
          <p:cNvSpPr/>
          <p:nvPr/>
        </p:nvSpPr>
        <p:spPr>
          <a:xfrm>
            <a:off x="428625" y="4099535"/>
            <a:ext cx="601831" cy="142988"/>
          </a:xfrm>
          <a:prstGeom prst="rect">
            <a:avLst/>
          </a:prstGeom>
          <a:noFill/>
          <a:ln/>
        </p:spPr>
        <p:txBody>
          <a:bodyPr wrap="none" lIns="0" tIns="0" rIns="0" bIns="0" rtlCol="0" anchor="t">
            <a:spAutoFit/>
          </a:bodyPr>
          <a:lstStyle/>
          <a:p>
            <a:pPr marL="0" indent="0" algn="l">
              <a:lnSpc>
                <a:spcPts val="1100"/>
              </a:lnSpc>
              <a:buNone/>
            </a:pPr>
            <a:r>
              <a:rPr lang="en-US" sz="1100" kern="0" spc="2" dirty="0">
                <a:solidFill>
                  <a:srgbClr val="333333"/>
                </a:solidFill>
              </a:rPr>
              <a:t>Team 226 </a:t>
            </a:r>
            <a:endParaRPr lang="en-US" sz="1100" dirty="0"/>
          </a:p>
        </p:txBody>
      </p:sp>
      <p:sp>
        <p:nvSpPr>
          <p:cNvPr id="6" name="TextBox 5">
            <a:extLst>
              <a:ext uri="{FF2B5EF4-FFF2-40B4-BE49-F238E27FC236}">
                <a16:creationId xmlns:a16="http://schemas.microsoft.com/office/drawing/2014/main" id="{82BFA0B0-F50A-CEDD-8755-D634B439F76D}"/>
              </a:ext>
            </a:extLst>
          </p:cNvPr>
          <p:cNvSpPr txBox="1"/>
          <p:nvPr/>
        </p:nvSpPr>
        <p:spPr>
          <a:xfrm>
            <a:off x="352338" y="4171029"/>
            <a:ext cx="1812022" cy="600164"/>
          </a:xfrm>
          <a:prstGeom prst="rect">
            <a:avLst/>
          </a:prstGeom>
          <a:noFill/>
        </p:spPr>
        <p:txBody>
          <a:bodyPr wrap="square" rtlCol="0">
            <a:spAutoFit/>
          </a:bodyPr>
          <a:lstStyle/>
          <a:p>
            <a:r>
              <a:rPr lang="en-US" sz="1100" dirty="0"/>
              <a:t>Sanchal </a:t>
            </a:r>
            <a:r>
              <a:rPr lang="en-US" sz="1100" dirty="0" err="1"/>
              <a:t>Kalengada</a:t>
            </a:r>
            <a:endParaRPr lang="en-US" sz="1100" dirty="0"/>
          </a:p>
          <a:p>
            <a:r>
              <a:rPr lang="en-US" sz="1100" dirty="0"/>
              <a:t>Tejal Meda</a:t>
            </a:r>
          </a:p>
          <a:p>
            <a:r>
              <a:rPr lang="en-US" sz="1100" dirty="0"/>
              <a:t>Pavithran Murugan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07571"/>
          </a:xfrm>
          <a:prstGeom prst="rect">
            <a:avLst/>
          </a:prstGeom>
        </p:spPr>
      </p:pic>
      <p:sp>
        <p:nvSpPr>
          <p:cNvPr id="3" name="Text 0"/>
          <p:cNvSpPr/>
          <p:nvPr/>
        </p:nvSpPr>
        <p:spPr>
          <a:xfrm>
            <a:off x="428625" y="428625"/>
            <a:ext cx="3571875" cy="714298"/>
          </a:xfrm>
          <a:prstGeom prst="rect">
            <a:avLst/>
          </a:prstGeom>
          <a:noFill/>
          <a:ln/>
        </p:spPr>
        <p:txBody>
          <a:bodyPr wrap="square" lIns="0" tIns="0" rIns="0" bIns="0" rtlCol="0" anchor="t">
            <a:spAutoFit/>
          </a:bodyPr>
          <a:lstStyle/>
          <a:p>
            <a:pPr marL="0" indent="0" algn="l">
              <a:lnSpc>
                <a:spcPts val="2700"/>
              </a:lnSpc>
              <a:buNone/>
            </a:pPr>
            <a:r>
              <a:rPr lang="en-US" sz="3200" b="1" dirty="0">
                <a:solidFill>
                  <a:srgbClr val="1A1A1A"/>
                </a:solidFill>
              </a:rPr>
              <a:t>The Data Source: FashionDataset2.csv</a:t>
            </a:r>
            <a:endParaRPr lang="en-US" sz="3200" dirty="0"/>
          </a:p>
        </p:txBody>
      </p:sp>
      <p:sp>
        <p:nvSpPr>
          <p:cNvPr id="4" name="Text 1"/>
          <p:cNvSpPr/>
          <p:nvPr/>
        </p:nvSpPr>
        <p:spPr>
          <a:xfrm>
            <a:off x="428625" y="1578769"/>
            <a:ext cx="1017202" cy="153888"/>
          </a:xfrm>
          <a:prstGeom prst="rect">
            <a:avLst/>
          </a:prstGeom>
          <a:noFill/>
          <a:ln/>
        </p:spPr>
        <p:txBody>
          <a:bodyPr wrap="none" lIns="0" tIns="0" rIns="0" bIns="0" rtlCol="0" anchor="t">
            <a:spAutoFit/>
          </a:bodyPr>
          <a:lstStyle/>
          <a:p>
            <a:pPr marL="0" indent="0" algn="l">
              <a:lnSpc>
                <a:spcPts val="1200"/>
              </a:lnSpc>
              <a:buNone/>
            </a:pPr>
            <a:r>
              <a:rPr lang="en-US" sz="1050" b="1" kern="0" spc="2" dirty="0">
                <a:solidFill>
                  <a:srgbClr val="C44D58"/>
                </a:solidFill>
              </a:rPr>
              <a:t>Key Data Columns</a:t>
            </a:r>
            <a:endParaRPr lang="en-US" sz="1050" dirty="0"/>
          </a:p>
        </p:txBody>
      </p:sp>
      <p:sp>
        <p:nvSpPr>
          <p:cNvPr id="5" name="Text 2"/>
          <p:cNvSpPr/>
          <p:nvPr/>
        </p:nvSpPr>
        <p:spPr>
          <a:xfrm>
            <a:off x="428625" y="1860947"/>
            <a:ext cx="121828" cy="209224"/>
          </a:xfrm>
          <a:prstGeom prst="rect">
            <a:avLst/>
          </a:prstGeom>
          <a:noFill/>
          <a:ln/>
        </p:spPr>
        <p:txBody>
          <a:bodyPr wrap="none" lIns="0" tIns="0" rIns="0" bIns="0" rtlCol="0" anchor="t">
            <a:spAutoFit/>
          </a:bodyPr>
          <a:lstStyle/>
          <a:p>
            <a:pPr marL="0" indent="0" algn="l">
              <a:lnSpc>
                <a:spcPts val="1800"/>
              </a:lnSpc>
              <a:buNone/>
            </a:pPr>
            <a:r>
              <a:rPr lang="en-US" sz="1100" dirty="0">
                <a:solidFill>
                  <a:srgbClr val="C44D58"/>
                </a:solidFill>
              </a:rPr>
              <a:t>▸</a:t>
            </a:r>
            <a:endParaRPr lang="en-US" sz="1100" dirty="0"/>
          </a:p>
        </p:txBody>
      </p:sp>
      <p:sp>
        <p:nvSpPr>
          <p:cNvPr id="6" name="Text 3"/>
          <p:cNvSpPr/>
          <p:nvPr/>
        </p:nvSpPr>
        <p:spPr>
          <a:xfrm>
            <a:off x="607219" y="1885950"/>
            <a:ext cx="662041" cy="187744"/>
          </a:xfrm>
          <a:prstGeom prst="rect">
            <a:avLst/>
          </a:prstGeom>
          <a:noFill/>
          <a:ln/>
        </p:spPr>
        <p:txBody>
          <a:bodyPr wrap="none" lIns="0" tIns="0" rIns="0" bIns="0" rtlCol="0" anchor="t">
            <a:spAutoFit/>
          </a:bodyPr>
          <a:lstStyle/>
          <a:p>
            <a:pPr marL="0" indent="0" algn="l">
              <a:lnSpc>
                <a:spcPts val="1600"/>
              </a:lnSpc>
              <a:buNone/>
            </a:pPr>
            <a:r>
              <a:rPr lang="en-US" sz="1000" b="1" dirty="0">
                <a:solidFill>
                  <a:srgbClr val="C44D58"/>
                </a:solidFill>
              </a:rPr>
              <a:t>Brand Name</a:t>
            </a:r>
            <a:endParaRPr lang="en-US" sz="1000" dirty="0"/>
          </a:p>
        </p:txBody>
      </p:sp>
      <p:sp>
        <p:nvSpPr>
          <p:cNvPr id="7" name="Text 4"/>
          <p:cNvSpPr/>
          <p:nvPr/>
        </p:nvSpPr>
        <p:spPr>
          <a:xfrm>
            <a:off x="1321594" y="1885950"/>
            <a:ext cx="1524456" cy="189411"/>
          </a:xfrm>
          <a:prstGeom prst="rect">
            <a:avLst/>
          </a:prstGeom>
          <a:noFill/>
          <a:ln/>
        </p:spPr>
        <p:txBody>
          <a:bodyPr wrap="none" lIns="0" tIns="0" rIns="0" bIns="0" rtlCol="0" anchor="t">
            <a:spAutoFit/>
          </a:bodyPr>
          <a:lstStyle/>
          <a:p>
            <a:pPr marL="0" indent="0" algn="l">
              <a:lnSpc>
                <a:spcPts val="1600"/>
              </a:lnSpc>
              <a:buNone/>
            </a:pPr>
            <a:r>
              <a:rPr lang="en-US" sz="1050" dirty="0">
                <a:solidFill>
                  <a:srgbClr val="333333"/>
                </a:solidFill>
              </a:rPr>
              <a:t>– The manufacturer or label</a:t>
            </a:r>
            <a:endParaRPr lang="en-US" sz="1050" dirty="0"/>
          </a:p>
        </p:txBody>
      </p:sp>
      <p:sp>
        <p:nvSpPr>
          <p:cNvPr id="8" name="Text 5"/>
          <p:cNvSpPr/>
          <p:nvPr/>
        </p:nvSpPr>
        <p:spPr>
          <a:xfrm>
            <a:off x="428625" y="2138102"/>
            <a:ext cx="121828" cy="209224"/>
          </a:xfrm>
          <a:prstGeom prst="rect">
            <a:avLst/>
          </a:prstGeom>
          <a:noFill/>
          <a:ln/>
        </p:spPr>
        <p:txBody>
          <a:bodyPr wrap="none" lIns="0" tIns="0" rIns="0" bIns="0" rtlCol="0" anchor="t">
            <a:spAutoFit/>
          </a:bodyPr>
          <a:lstStyle/>
          <a:p>
            <a:pPr marL="0" indent="0" algn="l">
              <a:lnSpc>
                <a:spcPts val="1800"/>
              </a:lnSpc>
              <a:buNone/>
            </a:pPr>
            <a:r>
              <a:rPr lang="en-US" sz="1100" dirty="0">
                <a:solidFill>
                  <a:srgbClr val="C44D58"/>
                </a:solidFill>
              </a:rPr>
              <a:t>▸</a:t>
            </a:r>
            <a:endParaRPr lang="en-US" sz="1100" dirty="0"/>
          </a:p>
        </p:txBody>
      </p:sp>
      <p:sp>
        <p:nvSpPr>
          <p:cNvPr id="9" name="Text 6"/>
          <p:cNvSpPr/>
          <p:nvPr/>
        </p:nvSpPr>
        <p:spPr>
          <a:xfrm>
            <a:off x="607219" y="2163105"/>
            <a:ext cx="367088" cy="187744"/>
          </a:xfrm>
          <a:prstGeom prst="rect">
            <a:avLst/>
          </a:prstGeom>
          <a:noFill/>
          <a:ln/>
        </p:spPr>
        <p:txBody>
          <a:bodyPr wrap="none" lIns="0" tIns="0" rIns="0" bIns="0" rtlCol="0" anchor="t">
            <a:spAutoFit/>
          </a:bodyPr>
          <a:lstStyle/>
          <a:p>
            <a:pPr marL="0" indent="0" algn="l">
              <a:lnSpc>
                <a:spcPts val="1600"/>
              </a:lnSpc>
              <a:buNone/>
            </a:pPr>
            <a:r>
              <a:rPr lang="en-US" sz="1000" b="1" dirty="0">
                <a:solidFill>
                  <a:srgbClr val="C44D58"/>
                </a:solidFill>
              </a:rPr>
              <a:t>Details</a:t>
            </a:r>
            <a:endParaRPr lang="en-US" sz="1000" dirty="0"/>
          </a:p>
        </p:txBody>
      </p:sp>
      <p:sp>
        <p:nvSpPr>
          <p:cNvPr id="10" name="Text 7"/>
          <p:cNvSpPr/>
          <p:nvPr/>
        </p:nvSpPr>
        <p:spPr>
          <a:xfrm>
            <a:off x="961638" y="2163105"/>
            <a:ext cx="3505006" cy="394595"/>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3333"/>
                </a:solidFill>
              </a:rPr>
              <a:t>– Descriptive text (e.g., "solid cotton blend collar neck womens a-line dress")</a:t>
            </a:r>
            <a:endParaRPr lang="en-US" sz="1050" dirty="0"/>
          </a:p>
        </p:txBody>
      </p:sp>
      <p:sp>
        <p:nvSpPr>
          <p:cNvPr id="11" name="Text 8"/>
          <p:cNvSpPr/>
          <p:nvPr/>
        </p:nvSpPr>
        <p:spPr>
          <a:xfrm>
            <a:off x="428625" y="2620975"/>
            <a:ext cx="121828" cy="209224"/>
          </a:xfrm>
          <a:prstGeom prst="rect">
            <a:avLst/>
          </a:prstGeom>
          <a:noFill/>
          <a:ln/>
        </p:spPr>
        <p:txBody>
          <a:bodyPr wrap="none" lIns="0" tIns="0" rIns="0" bIns="0" rtlCol="0" anchor="t">
            <a:spAutoFit/>
          </a:bodyPr>
          <a:lstStyle/>
          <a:p>
            <a:pPr marL="0" indent="0" algn="l">
              <a:lnSpc>
                <a:spcPts val="1800"/>
              </a:lnSpc>
              <a:buNone/>
            </a:pPr>
            <a:r>
              <a:rPr lang="en-US" sz="1100" dirty="0">
                <a:solidFill>
                  <a:srgbClr val="C44D58"/>
                </a:solidFill>
              </a:rPr>
              <a:t>▸</a:t>
            </a:r>
            <a:endParaRPr lang="en-US" sz="1100" dirty="0"/>
          </a:p>
        </p:txBody>
      </p:sp>
      <p:sp>
        <p:nvSpPr>
          <p:cNvPr id="12" name="Text 9"/>
          <p:cNvSpPr/>
          <p:nvPr/>
        </p:nvSpPr>
        <p:spPr>
          <a:xfrm>
            <a:off x="607219" y="2645978"/>
            <a:ext cx="259686" cy="187744"/>
          </a:xfrm>
          <a:prstGeom prst="rect">
            <a:avLst/>
          </a:prstGeom>
          <a:noFill/>
          <a:ln/>
        </p:spPr>
        <p:txBody>
          <a:bodyPr wrap="none" lIns="0" tIns="0" rIns="0" bIns="0" rtlCol="0" anchor="t">
            <a:spAutoFit/>
          </a:bodyPr>
          <a:lstStyle/>
          <a:p>
            <a:pPr marL="0" indent="0" algn="l">
              <a:lnSpc>
                <a:spcPts val="1600"/>
              </a:lnSpc>
              <a:buNone/>
            </a:pPr>
            <a:r>
              <a:rPr lang="en-US" sz="1000" b="1" dirty="0">
                <a:solidFill>
                  <a:srgbClr val="C44D58"/>
                </a:solidFill>
              </a:rPr>
              <a:t>Sizes</a:t>
            </a:r>
            <a:endParaRPr lang="en-US" sz="1000" dirty="0"/>
          </a:p>
        </p:txBody>
      </p:sp>
      <p:sp>
        <p:nvSpPr>
          <p:cNvPr id="13" name="Text 10"/>
          <p:cNvSpPr/>
          <p:nvPr/>
        </p:nvSpPr>
        <p:spPr>
          <a:xfrm>
            <a:off x="885211" y="2645978"/>
            <a:ext cx="2547172" cy="189411"/>
          </a:xfrm>
          <a:prstGeom prst="rect">
            <a:avLst/>
          </a:prstGeom>
          <a:noFill/>
          <a:ln/>
        </p:spPr>
        <p:txBody>
          <a:bodyPr wrap="none" lIns="0" tIns="0" rIns="0" bIns="0" rtlCol="0" anchor="t">
            <a:spAutoFit/>
          </a:bodyPr>
          <a:lstStyle/>
          <a:p>
            <a:pPr marL="0" indent="0" algn="l">
              <a:lnSpc>
                <a:spcPts val="1600"/>
              </a:lnSpc>
              <a:buNone/>
            </a:pPr>
            <a:r>
              <a:rPr lang="en-US" sz="1050" dirty="0">
                <a:solidFill>
                  <a:srgbClr val="333333"/>
                </a:solidFill>
              </a:rPr>
              <a:t>– Available sizes (e.g., "Large, Medium, Small")</a:t>
            </a:r>
            <a:endParaRPr lang="en-US" sz="1050" dirty="0"/>
          </a:p>
        </p:txBody>
      </p:sp>
      <p:sp>
        <p:nvSpPr>
          <p:cNvPr id="14" name="Text 11"/>
          <p:cNvSpPr/>
          <p:nvPr/>
        </p:nvSpPr>
        <p:spPr>
          <a:xfrm>
            <a:off x="428625" y="2898130"/>
            <a:ext cx="121828" cy="209224"/>
          </a:xfrm>
          <a:prstGeom prst="rect">
            <a:avLst/>
          </a:prstGeom>
          <a:noFill/>
          <a:ln/>
        </p:spPr>
        <p:txBody>
          <a:bodyPr wrap="none" lIns="0" tIns="0" rIns="0" bIns="0" rtlCol="0" anchor="t">
            <a:spAutoFit/>
          </a:bodyPr>
          <a:lstStyle/>
          <a:p>
            <a:pPr marL="0" indent="0" algn="l">
              <a:lnSpc>
                <a:spcPts val="1800"/>
              </a:lnSpc>
              <a:buNone/>
            </a:pPr>
            <a:r>
              <a:rPr lang="en-US" sz="1100" dirty="0">
                <a:solidFill>
                  <a:srgbClr val="C44D58"/>
                </a:solidFill>
              </a:rPr>
              <a:t>▸</a:t>
            </a:r>
            <a:endParaRPr lang="en-US" sz="1100" dirty="0"/>
          </a:p>
        </p:txBody>
      </p:sp>
      <p:sp>
        <p:nvSpPr>
          <p:cNvPr id="15" name="Text 12"/>
          <p:cNvSpPr/>
          <p:nvPr/>
        </p:nvSpPr>
        <p:spPr>
          <a:xfrm>
            <a:off x="607219" y="2923133"/>
            <a:ext cx="881652" cy="187744"/>
          </a:xfrm>
          <a:prstGeom prst="rect">
            <a:avLst/>
          </a:prstGeom>
          <a:noFill/>
          <a:ln/>
        </p:spPr>
        <p:txBody>
          <a:bodyPr wrap="none" lIns="0" tIns="0" rIns="0" bIns="0" rtlCol="0" anchor="t">
            <a:spAutoFit/>
          </a:bodyPr>
          <a:lstStyle/>
          <a:p>
            <a:pPr marL="0" indent="0" algn="l">
              <a:lnSpc>
                <a:spcPts val="1600"/>
              </a:lnSpc>
              <a:buNone/>
            </a:pPr>
            <a:r>
              <a:rPr lang="en-US" sz="1000" b="1" dirty="0">
                <a:solidFill>
                  <a:srgbClr val="C44D58"/>
                </a:solidFill>
              </a:rPr>
              <a:t>MRP &amp; Sell Price</a:t>
            </a:r>
            <a:endParaRPr lang="en-US" sz="1000" dirty="0"/>
          </a:p>
        </p:txBody>
      </p:sp>
      <p:sp>
        <p:nvSpPr>
          <p:cNvPr id="16" name="Text 13"/>
          <p:cNvSpPr/>
          <p:nvPr/>
        </p:nvSpPr>
        <p:spPr>
          <a:xfrm>
            <a:off x="1549301" y="2914247"/>
            <a:ext cx="3165574" cy="187744"/>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3333"/>
                </a:solidFill>
              </a:rPr>
              <a:t>– Maximum Retail Price and actual selling price</a:t>
            </a:r>
            <a:endParaRPr lang="en-US" sz="1050" dirty="0"/>
          </a:p>
        </p:txBody>
      </p:sp>
      <p:sp>
        <p:nvSpPr>
          <p:cNvPr id="17" name="Text 14"/>
          <p:cNvSpPr/>
          <p:nvPr/>
        </p:nvSpPr>
        <p:spPr>
          <a:xfrm>
            <a:off x="428625" y="3381003"/>
            <a:ext cx="121828" cy="209224"/>
          </a:xfrm>
          <a:prstGeom prst="rect">
            <a:avLst/>
          </a:prstGeom>
          <a:noFill/>
          <a:ln/>
        </p:spPr>
        <p:txBody>
          <a:bodyPr wrap="none" lIns="0" tIns="0" rIns="0" bIns="0" rtlCol="0" anchor="t">
            <a:spAutoFit/>
          </a:bodyPr>
          <a:lstStyle/>
          <a:p>
            <a:pPr marL="0" indent="0" algn="l">
              <a:lnSpc>
                <a:spcPts val="1800"/>
              </a:lnSpc>
              <a:buNone/>
            </a:pPr>
            <a:r>
              <a:rPr lang="en-US" sz="1100" dirty="0">
                <a:solidFill>
                  <a:srgbClr val="C44D58"/>
                </a:solidFill>
              </a:rPr>
              <a:t>▸</a:t>
            </a:r>
            <a:endParaRPr lang="en-US" sz="1100" dirty="0"/>
          </a:p>
        </p:txBody>
      </p:sp>
      <p:sp>
        <p:nvSpPr>
          <p:cNvPr id="18" name="Text 15"/>
          <p:cNvSpPr/>
          <p:nvPr/>
        </p:nvSpPr>
        <p:spPr>
          <a:xfrm>
            <a:off x="607219" y="3406006"/>
            <a:ext cx="468077" cy="187744"/>
          </a:xfrm>
          <a:prstGeom prst="rect">
            <a:avLst/>
          </a:prstGeom>
          <a:noFill/>
          <a:ln/>
        </p:spPr>
        <p:txBody>
          <a:bodyPr wrap="none" lIns="0" tIns="0" rIns="0" bIns="0" rtlCol="0" anchor="t">
            <a:spAutoFit/>
          </a:bodyPr>
          <a:lstStyle/>
          <a:p>
            <a:pPr marL="0" indent="0" algn="l">
              <a:lnSpc>
                <a:spcPts val="1600"/>
              </a:lnSpc>
              <a:buNone/>
            </a:pPr>
            <a:r>
              <a:rPr lang="en-US" sz="1000" b="1" dirty="0">
                <a:solidFill>
                  <a:srgbClr val="C44D58"/>
                </a:solidFill>
              </a:rPr>
              <a:t>Discount</a:t>
            </a:r>
            <a:endParaRPr lang="en-US" sz="1000" dirty="0"/>
          </a:p>
        </p:txBody>
      </p:sp>
      <p:sp>
        <p:nvSpPr>
          <p:cNvPr id="19" name="Text 16"/>
          <p:cNvSpPr/>
          <p:nvPr/>
        </p:nvSpPr>
        <p:spPr>
          <a:xfrm>
            <a:off x="1112779" y="3406006"/>
            <a:ext cx="1665521" cy="189411"/>
          </a:xfrm>
          <a:prstGeom prst="rect">
            <a:avLst/>
          </a:prstGeom>
          <a:noFill/>
          <a:ln/>
        </p:spPr>
        <p:txBody>
          <a:bodyPr wrap="none" lIns="0" tIns="0" rIns="0" bIns="0" rtlCol="0" anchor="t">
            <a:spAutoFit/>
          </a:bodyPr>
          <a:lstStyle/>
          <a:p>
            <a:pPr marL="0" indent="0" algn="l">
              <a:lnSpc>
                <a:spcPts val="1600"/>
              </a:lnSpc>
              <a:buNone/>
            </a:pPr>
            <a:r>
              <a:rPr lang="en-US" sz="1050" dirty="0">
                <a:solidFill>
                  <a:srgbClr val="333333"/>
                </a:solidFill>
              </a:rPr>
              <a:t>– Discount percentage offered</a:t>
            </a:r>
            <a:endParaRPr lang="en-US" sz="1050" dirty="0"/>
          </a:p>
        </p:txBody>
      </p:sp>
      <p:sp>
        <p:nvSpPr>
          <p:cNvPr id="20" name="Text 17"/>
          <p:cNvSpPr/>
          <p:nvPr/>
        </p:nvSpPr>
        <p:spPr>
          <a:xfrm>
            <a:off x="428625" y="3658158"/>
            <a:ext cx="121828" cy="209224"/>
          </a:xfrm>
          <a:prstGeom prst="rect">
            <a:avLst/>
          </a:prstGeom>
          <a:noFill/>
          <a:ln/>
        </p:spPr>
        <p:txBody>
          <a:bodyPr wrap="none" lIns="0" tIns="0" rIns="0" bIns="0" rtlCol="0" anchor="t">
            <a:spAutoFit/>
          </a:bodyPr>
          <a:lstStyle/>
          <a:p>
            <a:pPr marL="0" indent="0" algn="l">
              <a:lnSpc>
                <a:spcPts val="1800"/>
              </a:lnSpc>
              <a:buNone/>
            </a:pPr>
            <a:r>
              <a:rPr lang="en-US" sz="1100" dirty="0">
                <a:solidFill>
                  <a:srgbClr val="C44D58"/>
                </a:solidFill>
              </a:rPr>
              <a:t>▸</a:t>
            </a:r>
            <a:endParaRPr lang="en-US" sz="1100" dirty="0"/>
          </a:p>
        </p:txBody>
      </p:sp>
      <p:sp>
        <p:nvSpPr>
          <p:cNvPr id="21" name="Text 18"/>
          <p:cNvSpPr/>
          <p:nvPr/>
        </p:nvSpPr>
        <p:spPr>
          <a:xfrm>
            <a:off x="607219" y="3683161"/>
            <a:ext cx="474489" cy="187744"/>
          </a:xfrm>
          <a:prstGeom prst="rect">
            <a:avLst/>
          </a:prstGeom>
          <a:noFill/>
          <a:ln/>
        </p:spPr>
        <p:txBody>
          <a:bodyPr wrap="none" lIns="0" tIns="0" rIns="0" bIns="0" rtlCol="0" anchor="t">
            <a:spAutoFit/>
          </a:bodyPr>
          <a:lstStyle/>
          <a:p>
            <a:pPr marL="0" indent="0" algn="l">
              <a:lnSpc>
                <a:spcPts val="1600"/>
              </a:lnSpc>
              <a:buNone/>
            </a:pPr>
            <a:r>
              <a:rPr lang="en-US" sz="1000" b="1" dirty="0">
                <a:solidFill>
                  <a:srgbClr val="C44D58"/>
                </a:solidFill>
              </a:rPr>
              <a:t>Category</a:t>
            </a:r>
            <a:endParaRPr lang="en-US" sz="1000" dirty="0"/>
          </a:p>
        </p:txBody>
      </p:sp>
      <p:sp>
        <p:nvSpPr>
          <p:cNvPr id="22" name="Text 19"/>
          <p:cNvSpPr/>
          <p:nvPr/>
        </p:nvSpPr>
        <p:spPr>
          <a:xfrm>
            <a:off x="1067963" y="3683161"/>
            <a:ext cx="3240305" cy="394595"/>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3333"/>
                </a:solidFill>
              </a:rPr>
              <a:t>– High-level product category (e.g., "Westernwear-Women")</a:t>
            </a:r>
            <a:endParaRPr lang="en-US" sz="1050" dirty="0"/>
          </a:p>
        </p:txBody>
      </p:sp>
      <p:sp>
        <p:nvSpPr>
          <p:cNvPr id="23" name="Text 20"/>
          <p:cNvSpPr/>
          <p:nvPr/>
        </p:nvSpPr>
        <p:spPr>
          <a:xfrm>
            <a:off x="428625" y="4391062"/>
            <a:ext cx="1117614" cy="153888"/>
          </a:xfrm>
          <a:prstGeom prst="rect">
            <a:avLst/>
          </a:prstGeom>
          <a:noFill/>
          <a:ln/>
        </p:spPr>
        <p:txBody>
          <a:bodyPr wrap="none" lIns="0" tIns="0" rIns="0" bIns="0" rtlCol="0" anchor="t">
            <a:spAutoFit/>
          </a:bodyPr>
          <a:lstStyle/>
          <a:p>
            <a:pPr marL="0" indent="0" algn="l">
              <a:lnSpc>
                <a:spcPts val="1200"/>
              </a:lnSpc>
              <a:buNone/>
            </a:pPr>
            <a:r>
              <a:rPr lang="en-US" sz="1050" b="1" kern="0" spc="2" dirty="0">
                <a:solidFill>
                  <a:srgbClr val="C44D58"/>
                </a:solidFill>
              </a:rPr>
              <a:t>Data Characteristics</a:t>
            </a:r>
            <a:endParaRPr lang="en-US" sz="1050" dirty="0"/>
          </a:p>
        </p:txBody>
      </p:sp>
      <p:sp>
        <p:nvSpPr>
          <p:cNvPr id="24" name="Text 21"/>
          <p:cNvSpPr/>
          <p:nvPr/>
        </p:nvSpPr>
        <p:spPr>
          <a:xfrm>
            <a:off x="428625" y="4673240"/>
            <a:ext cx="3382336" cy="158890"/>
          </a:xfrm>
          <a:prstGeom prst="rect">
            <a:avLst/>
          </a:prstGeom>
          <a:noFill/>
          <a:ln/>
        </p:spPr>
        <p:txBody>
          <a:bodyPr wrap="none" lIns="0" tIns="0" rIns="0" bIns="0" rtlCol="0" anchor="t">
            <a:spAutoFit/>
          </a:bodyPr>
          <a:lstStyle/>
          <a:p>
            <a:pPr marL="0" indent="0" algn="l">
              <a:lnSpc>
                <a:spcPts val="1300"/>
              </a:lnSpc>
              <a:buNone/>
            </a:pPr>
            <a:r>
              <a:rPr lang="en-US" sz="1000" dirty="0">
                <a:solidFill>
                  <a:srgbClr val="666666"/>
                </a:solidFill>
              </a:rPr>
              <a:t>• Format: CSV (Comma-Separated Values) with standard headers</a:t>
            </a:r>
            <a:endParaRPr lang="en-US" sz="1000" dirty="0"/>
          </a:p>
        </p:txBody>
      </p:sp>
      <p:sp>
        <p:nvSpPr>
          <p:cNvPr id="25" name="Text 22"/>
          <p:cNvSpPr/>
          <p:nvPr/>
        </p:nvSpPr>
        <p:spPr>
          <a:xfrm>
            <a:off x="428625" y="4940405"/>
            <a:ext cx="3590727" cy="158890"/>
          </a:xfrm>
          <a:prstGeom prst="rect">
            <a:avLst/>
          </a:prstGeom>
          <a:noFill/>
          <a:ln/>
        </p:spPr>
        <p:txBody>
          <a:bodyPr wrap="none" lIns="0" tIns="0" rIns="0" bIns="0" rtlCol="0" anchor="t">
            <a:spAutoFit/>
          </a:bodyPr>
          <a:lstStyle/>
          <a:p>
            <a:pPr marL="0" indent="0" algn="l">
              <a:lnSpc>
                <a:spcPts val="1300"/>
              </a:lnSpc>
              <a:buNone/>
            </a:pPr>
            <a:r>
              <a:rPr lang="en-US" sz="1000" dirty="0">
                <a:solidFill>
                  <a:srgbClr val="666666"/>
                </a:solidFill>
              </a:rPr>
              <a:t>• Raw State: Unmodified source data, exact replica of the original file</a:t>
            </a:r>
            <a:endParaRPr lang="en-US" sz="1000" dirty="0"/>
          </a:p>
        </p:txBody>
      </p:sp>
      <p:sp>
        <p:nvSpPr>
          <p:cNvPr id="26" name="Text 23"/>
          <p:cNvSpPr/>
          <p:nvPr/>
        </p:nvSpPr>
        <p:spPr>
          <a:xfrm>
            <a:off x="5000625" y="607219"/>
            <a:ext cx="1251433" cy="153888"/>
          </a:xfrm>
          <a:prstGeom prst="rect">
            <a:avLst/>
          </a:prstGeom>
          <a:noFill/>
          <a:ln/>
        </p:spPr>
        <p:txBody>
          <a:bodyPr wrap="none" lIns="0" tIns="0" rIns="0" bIns="0" rtlCol="0" anchor="t">
            <a:spAutoFit/>
          </a:bodyPr>
          <a:lstStyle/>
          <a:p>
            <a:pPr marL="0" indent="0" algn="l">
              <a:lnSpc>
                <a:spcPts val="1200"/>
              </a:lnSpc>
              <a:buNone/>
            </a:pPr>
            <a:r>
              <a:rPr lang="en-US" sz="1050" b="1" kern="0" spc="2" dirty="0">
                <a:solidFill>
                  <a:srgbClr val="C44D58"/>
                </a:solidFill>
              </a:rPr>
              <a:t>Initial Data Challenges</a:t>
            </a:r>
            <a:endParaRPr lang="en-US" sz="1050" dirty="0"/>
          </a:p>
        </p:txBody>
      </p:sp>
      <p:sp>
        <p:nvSpPr>
          <p:cNvPr id="27" name="Text 24"/>
          <p:cNvSpPr/>
          <p:nvPr/>
        </p:nvSpPr>
        <p:spPr>
          <a:xfrm>
            <a:off x="5000625" y="889397"/>
            <a:ext cx="3857625" cy="325602"/>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666666"/>
                </a:solidFill>
              </a:rPr>
              <a:t>Price columns contained currency symbols (Rs) and text formatting that required parsing into numeric formats for analysis and aggregation.</a:t>
            </a:r>
            <a:endParaRPr lang="en-US" sz="1000" dirty="0"/>
          </a:p>
        </p:txBody>
      </p:sp>
      <p:sp>
        <p:nvSpPr>
          <p:cNvPr id="28" name="Text 25"/>
          <p:cNvSpPr/>
          <p:nvPr/>
        </p:nvSpPr>
        <p:spPr>
          <a:xfrm>
            <a:off x="5000625" y="1602321"/>
            <a:ext cx="1262140" cy="153888"/>
          </a:xfrm>
          <a:prstGeom prst="rect">
            <a:avLst/>
          </a:prstGeom>
          <a:noFill/>
          <a:ln/>
        </p:spPr>
        <p:txBody>
          <a:bodyPr wrap="none" lIns="0" tIns="0" rIns="0" bIns="0" rtlCol="0" anchor="t">
            <a:spAutoFit/>
          </a:bodyPr>
          <a:lstStyle/>
          <a:p>
            <a:pPr marL="0" indent="0" algn="l">
              <a:lnSpc>
                <a:spcPts val="1200"/>
              </a:lnSpc>
              <a:buNone/>
            </a:pPr>
            <a:r>
              <a:rPr lang="en-US" sz="1050" b="1" kern="0" spc="2" dirty="0">
                <a:solidFill>
                  <a:srgbClr val="C44D58"/>
                </a:solidFill>
              </a:rPr>
              <a:t>Sample Data Structure</a:t>
            </a:r>
            <a:endParaRPr lang="en-US" sz="1050" dirty="0"/>
          </a:p>
        </p:txBody>
      </p:sp>
      <p:sp>
        <p:nvSpPr>
          <p:cNvPr id="29" name="Shape 26"/>
          <p:cNvSpPr/>
          <p:nvPr/>
        </p:nvSpPr>
        <p:spPr>
          <a:xfrm>
            <a:off x="5000625" y="2027374"/>
            <a:ext cx="3857625" cy="2500313"/>
          </a:xfrm>
          <a:prstGeom prst="rect">
            <a:avLst/>
          </a:prstGeom>
          <a:solidFill>
            <a:srgbClr val="FFFFFF"/>
          </a:solidFill>
          <a:ln w="18288">
            <a:solidFill>
              <a:srgbClr val="1A1A1A"/>
            </a:solidFill>
            <a:prstDash val="solid"/>
          </a:ln>
        </p:spPr>
        <p:txBody>
          <a:bodyPr/>
          <a:lstStyle/>
          <a:p>
            <a:endParaRPr lang="en-US" sz="2800"/>
          </a:p>
        </p:txBody>
      </p:sp>
      <p:sp>
        <p:nvSpPr>
          <p:cNvPr id="30" name="Shape 27"/>
          <p:cNvSpPr/>
          <p:nvPr/>
        </p:nvSpPr>
        <p:spPr>
          <a:xfrm>
            <a:off x="5000625" y="2027374"/>
            <a:ext cx="3857625" cy="341114"/>
          </a:xfrm>
          <a:prstGeom prst="rect">
            <a:avLst/>
          </a:prstGeom>
          <a:solidFill>
            <a:srgbClr val="1A1A1A"/>
          </a:solidFill>
          <a:ln/>
        </p:spPr>
        <p:txBody>
          <a:bodyPr/>
          <a:lstStyle/>
          <a:p>
            <a:endParaRPr lang="en-US" sz="2800"/>
          </a:p>
        </p:txBody>
      </p:sp>
      <p:sp>
        <p:nvSpPr>
          <p:cNvPr id="31" name="Text 28"/>
          <p:cNvSpPr/>
          <p:nvPr/>
        </p:nvSpPr>
        <p:spPr>
          <a:xfrm>
            <a:off x="5000625" y="2027374"/>
            <a:ext cx="1928813" cy="372923"/>
          </a:xfrm>
          <a:prstGeom prst="rect">
            <a:avLst/>
          </a:prstGeom>
          <a:noFill/>
          <a:ln/>
        </p:spPr>
        <p:txBody>
          <a:bodyPr wrap="square" lIns="127508" tIns="127508" rIns="127508" bIns="127508" rtlCol="0" anchor="t">
            <a:spAutoFit/>
          </a:bodyPr>
          <a:lstStyle/>
          <a:p>
            <a:pPr marL="0" indent="0" algn="l">
              <a:lnSpc>
                <a:spcPts val="900"/>
              </a:lnSpc>
              <a:buNone/>
            </a:pPr>
            <a:r>
              <a:rPr lang="en-US" sz="900" b="1" kern="0" spc="1" dirty="0">
                <a:solidFill>
                  <a:srgbClr val="F5F5F0"/>
                </a:solidFill>
              </a:rPr>
              <a:t>Column</a:t>
            </a:r>
            <a:endParaRPr lang="en-US" sz="900" dirty="0"/>
          </a:p>
        </p:txBody>
      </p:sp>
      <p:sp>
        <p:nvSpPr>
          <p:cNvPr id="32" name="Text 29"/>
          <p:cNvSpPr/>
          <p:nvPr/>
        </p:nvSpPr>
        <p:spPr>
          <a:xfrm>
            <a:off x="6929438" y="2027374"/>
            <a:ext cx="1928813" cy="372923"/>
          </a:xfrm>
          <a:prstGeom prst="rect">
            <a:avLst/>
          </a:prstGeom>
          <a:noFill/>
          <a:ln/>
        </p:spPr>
        <p:txBody>
          <a:bodyPr wrap="square" lIns="127508" tIns="127508" rIns="127508" bIns="127508" rtlCol="0" anchor="t">
            <a:spAutoFit/>
          </a:bodyPr>
          <a:lstStyle/>
          <a:p>
            <a:pPr marL="0" indent="0" algn="l">
              <a:lnSpc>
                <a:spcPts val="900"/>
              </a:lnSpc>
              <a:buNone/>
            </a:pPr>
            <a:r>
              <a:rPr lang="en-US" sz="900" b="1" kern="0" spc="1" dirty="0">
                <a:solidFill>
                  <a:srgbClr val="F5F5F0"/>
                </a:solidFill>
              </a:rPr>
              <a:t>Example Value</a:t>
            </a:r>
            <a:endParaRPr lang="en-US" sz="900" dirty="0"/>
          </a:p>
        </p:txBody>
      </p:sp>
      <p:sp>
        <p:nvSpPr>
          <p:cNvPr id="33" name="Text 30"/>
          <p:cNvSpPr/>
          <p:nvPr/>
        </p:nvSpPr>
        <p:spPr>
          <a:xfrm>
            <a:off x="5000625" y="2368488"/>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Brand Name</a:t>
            </a:r>
            <a:endParaRPr lang="en-US" sz="1000" dirty="0"/>
          </a:p>
        </p:txBody>
      </p:sp>
      <p:sp>
        <p:nvSpPr>
          <p:cNvPr id="34" name="Text 31"/>
          <p:cNvSpPr/>
          <p:nvPr/>
        </p:nvSpPr>
        <p:spPr>
          <a:xfrm>
            <a:off x="6929438" y="2368488"/>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Nike, Adidas, Zara</a:t>
            </a:r>
            <a:endParaRPr lang="en-US" sz="1000" dirty="0"/>
          </a:p>
        </p:txBody>
      </p:sp>
      <p:sp>
        <p:nvSpPr>
          <p:cNvPr id="35" name="Text 32"/>
          <p:cNvSpPr/>
          <p:nvPr/>
        </p:nvSpPr>
        <p:spPr>
          <a:xfrm>
            <a:off x="5000625" y="2673883"/>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Details</a:t>
            </a:r>
            <a:endParaRPr lang="en-US" sz="1000" dirty="0"/>
          </a:p>
        </p:txBody>
      </p:sp>
      <p:sp>
        <p:nvSpPr>
          <p:cNvPr id="36" name="Text 33"/>
          <p:cNvSpPr/>
          <p:nvPr/>
        </p:nvSpPr>
        <p:spPr>
          <a:xfrm>
            <a:off x="6929438" y="2673883"/>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Cotton blend dress</a:t>
            </a:r>
            <a:endParaRPr lang="en-US" sz="1000" dirty="0"/>
          </a:p>
        </p:txBody>
      </p:sp>
      <p:sp>
        <p:nvSpPr>
          <p:cNvPr id="37" name="Text 34"/>
          <p:cNvSpPr/>
          <p:nvPr/>
        </p:nvSpPr>
        <p:spPr>
          <a:xfrm>
            <a:off x="5000625" y="2979279"/>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Sizes</a:t>
            </a:r>
            <a:endParaRPr lang="en-US" sz="1000" dirty="0"/>
          </a:p>
        </p:txBody>
      </p:sp>
      <p:sp>
        <p:nvSpPr>
          <p:cNvPr id="38" name="Text 35"/>
          <p:cNvSpPr/>
          <p:nvPr/>
        </p:nvSpPr>
        <p:spPr>
          <a:xfrm>
            <a:off x="6929438" y="2979279"/>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S, M, L, XL</a:t>
            </a:r>
            <a:endParaRPr lang="en-US" sz="1000" dirty="0"/>
          </a:p>
        </p:txBody>
      </p:sp>
      <p:sp>
        <p:nvSpPr>
          <p:cNvPr id="39" name="Text 36"/>
          <p:cNvSpPr/>
          <p:nvPr/>
        </p:nvSpPr>
        <p:spPr>
          <a:xfrm>
            <a:off x="5000625" y="3284674"/>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MRP</a:t>
            </a:r>
            <a:endParaRPr lang="en-US" sz="1000" dirty="0"/>
          </a:p>
        </p:txBody>
      </p:sp>
      <p:sp>
        <p:nvSpPr>
          <p:cNvPr id="40" name="Text 37"/>
          <p:cNvSpPr/>
          <p:nvPr/>
        </p:nvSpPr>
        <p:spPr>
          <a:xfrm>
            <a:off x="6929438" y="3284674"/>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Rs 2,999</a:t>
            </a:r>
            <a:endParaRPr lang="en-US" sz="1000" dirty="0"/>
          </a:p>
        </p:txBody>
      </p:sp>
      <p:sp>
        <p:nvSpPr>
          <p:cNvPr id="41" name="Text 38"/>
          <p:cNvSpPr/>
          <p:nvPr/>
        </p:nvSpPr>
        <p:spPr>
          <a:xfrm>
            <a:off x="5000625" y="3590069"/>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Sell Price</a:t>
            </a:r>
            <a:endParaRPr lang="en-US" sz="1000" dirty="0"/>
          </a:p>
        </p:txBody>
      </p:sp>
      <p:sp>
        <p:nvSpPr>
          <p:cNvPr id="42" name="Text 39"/>
          <p:cNvSpPr/>
          <p:nvPr/>
        </p:nvSpPr>
        <p:spPr>
          <a:xfrm>
            <a:off x="6929438" y="3590069"/>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Rs 1,999</a:t>
            </a:r>
            <a:endParaRPr lang="en-US" sz="1000" dirty="0"/>
          </a:p>
        </p:txBody>
      </p:sp>
      <p:sp>
        <p:nvSpPr>
          <p:cNvPr id="43" name="Text 40"/>
          <p:cNvSpPr/>
          <p:nvPr/>
        </p:nvSpPr>
        <p:spPr>
          <a:xfrm>
            <a:off x="5000625" y="3895465"/>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Discount</a:t>
            </a:r>
            <a:endParaRPr lang="en-US" sz="1000" dirty="0"/>
          </a:p>
        </p:txBody>
      </p:sp>
      <p:sp>
        <p:nvSpPr>
          <p:cNvPr id="44" name="Text 41"/>
          <p:cNvSpPr/>
          <p:nvPr/>
        </p:nvSpPr>
        <p:spPr>
          <a:xfrm>
            <a:off x="6929438" y="3895465"/>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33.3%</a:t>
            </a:r>
            <a:endParaRPr lang="en-US" sz="1000" dirty="0"/>
          </a:p>
        </p:txBody>
      </p:sp>
      <p:sp>
        <p:nvSpPr>
          <p:cNvPr id="45" name="Text 42"/>
          <p:cNvSpPr/>
          <p:nvPr/>
        </p:nvSpPr>
        <p:spPr>
          <a:xfrm>
            <a:off x="5000625" y="4200860"/>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Category</a:t>
            </a:r>
            <a:endParaRPr lang="en-US" sz="1000" dirty="0"/>
          </a:p>
        </p:txBody>
      </p:sp>
      <p:sp>
        <p:nvSpPr>
          <p:cNvPr id="46" name="Text 43"/>
          <p:cNvSpPr/>
          <p:nvPr/>
        </p:nvSpPr>
        <p:spPr>
          <a:xfrm>
            <a:off x="6929438" y="4200860"/>
            <a:ext cx="1928813" cy="326628"/>
          </a:xfrm>
          <a:prstGeom prst="rect">
            <a:avLst/>
          </a:prstGeom>
          <a:noFill/>
          <a:ln/>
        </p:spPr>
        <p:txBody>
          <a:bodyPr wrap="square" lIns="127508" tIns="102108" rIns="127508" bIns="102108" rtlCol="0" anchor="t">
            <a:spAutoFit/>
          </a:bodyPr>
          <a:lstStyle/>
          <a:p>
            <a:pPr marL="0" indent="0" algn="l">
              <a:lnSpc>
                <a:spcPts val="900"/>
              </a:lnSpc>
              <a:buNone/>
            </a:pPr>
            <a:r>
              <a:rPr lang="en-US" sz="1000" dirty="0">
                <a:solidFill>
                  <a:srgbClr val="333333"/>
                </a:solidFill>
              </a:rPr>
              <a:t>Westernwear-Women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7802008" cy="396904"/>
          </a:xfrm>
          <a:prstGeom prst="rect">
            <a:avLst/>
          </a:prstGeom>
          <a:noFill/>
          <a:ln/>
        </p:spPr>
        <p:txBody>
          <a:bodyPr wrap="none" lIns="0" tIns="0" rIns="0" bIns="0" rtlCol="0" anchor="t">
            <a:spAutoFit/>
          </a:bodyPr>
          <a:lstStyle/>
          <a:p>
            <a:pPr marL="0" indent="0" algn="l">
              <a:lnSpc>
                <a:spcPts val="3000"/>
              </a:lnSpc>
              <a:buNone/>
            </a:pPr>
            <a:r>
              <a:rPr lang="en-US" sz="3200" b="1" dirty="0">
                <a:solidFill>
                  <a:srgbClr val="1A1A1A"/>
                </a:solidFill>
              </a:rPr>
              <a:t>Project Architecture: The Medallion Approach</a:t>
            </a:r>
            <a:endParaRPr lang="en-US" sz="3200" dirty="0"/>
          </a:p>
        </p:txBody>
      </p:sp>
      <p:sp>
        <p:nvSpPr>
          <p:cNvPr id="4" name="Text 1"/>
          <p:cNvSpPr/>
          <p:nvPr/>
        </p:nvSpPr>
        <p:spPr>
          <a:xfrm>
            <a:off x="428625" y="841511"/>
            <a:ext cx="6460102" cy="170175"/>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666666"/>
                </a:solidFill>
              </a:rPr>
              <a:t>An industry-standard three-layer architecture ensuring data quality, governance, and usability across the organization.</a:t>
            </a:r>
            <a:endParaRPr lang="en-US" sz="1050" dirty="0"/>
          </a:p>
        </p:txBody>
      </p:sp>
      <p:sp>
        <p:nvSpPr>
          <p:cNvPr id="5" name="Shape 2"/>
          <p:cNvSpPr/>
          <p:nvPr/>
        </p:nvSpPr>
        <p:spPr>
          <a:xfrm>
            <a:off x="428625" y="1310125"/>
            <a:ext cx="2619356" cy="2999008"/>
          </a:xfrm>
          <a:prstGeom prst="rect">
            <a:avLst/>
          </a:prstGeom>
          <a:solidFill>
            <a:srgbClr val="F9F4F0"/>
          </a:solidFill>
          <a:ln w="18288">
            <a:solidFill>
              <a:srgbClr val="1A1A1A"/>
            </a:solidFill>
            <a:prstDash val="solid"/>
          </a:ln>
        </p:spPr>
        <p:txBody>
          <a:bodyPr/>
          <a:lstStyle/>
          <a:p>
            <a:endParaRPr lang="en-US" sz="2800"/>
          </a:p>
        </p:txBody>
      </p:sp>
      <p:sp>
        <p:nvSpPr>
          <p:cNvPr id="6" name="Text 3"/>
          <p:cNvSpPr/>
          <p:nvPr/>
        </p:nvSpPr>
        <p:spPr>
          <a:xfrm>
            <a:off x="642938" y="1524437"/>
            <a:ext cx="468077" cy="429669"/>
          </a:xfrm>
          <a:prstGeom prst="rect">
            <a:avLst/>
          </a:prstGeom>
          <a:noFill/>
          <a:ln/>
        </p:spPr>
        <p:txBody>
          <a:bodyPr wrap="none" lIns="0" tIns="0" rIns="0" bIns="0" rtlCol="0" anchor="t">
            <a:spAutoFit/>
          </a:bodyPr>
          <a:lstStyle/>
          <a:p>
            <a:pPr marL="0" indent="0" algn="l">
              <a:lnSpc>
                <a:spcPts val="3200"/>
              </a:lnSpc>
              <a:buNone/>
            </a:pPr>
            <a:r>
              <a:rPr lang="en-US" sz="3600" b="1" dirty="0">
                <a:solidFill>
                  <a:srgbClr val="C44D58"/>
                </a:solidFill>
              </a:rPr>
              <a:t>01</a:t>
            </a:r>
            <a:endParaRPr lang="en-US" sz="3600" dirty="0"/>
          </a:p>
        </p:txBody>
      </p:sp>
      <p:sp>
        <p:nvSpPr>
          <p:cNvPr id="7" name="Text 4"/>
          <p:cNvSpPr/>
          <p:nvPr/>
        </p:nvSpPr>
        <p:spPr>
          <a:xfrm>
            <a:off x="642938" y="2062004"/>
            <a:ext cx="1090555" cy="208070"/>
          </a:xfrm>
          <a:prstGeom prst="rect">
            <a:avLst/>
          </a:prstGeom>
          <a:noFill/>
          <a:ln/>
        </p:spPr>
        <p:txBody>
          <a:bodyPr wrap="none" lIns="0" tIns="0" rIns="0" bIns="0" rtlCol="0" anchor="t">
            <a:spAutoFit/>
          </a:bodyPr>
          <a:lstStyle/>
          <a:p>
            <a:pPr marL="0" indent="0" algn="l">
              <a:lnSpc>
                <a:spcPts val="1600"/>
              </a:lnSpc>
              <a:buNone/>
            </a:pPr>
            <a:r>
              <a:rPr lang="en-US" sz="1600" b="1" dirty="0">
                <a:solidFill>
                  <a:srgbClr val="1A1A1A"/>
                </a:solidFill>
              </a:rPr>
              <a:t>Bronze Layer</a:t>
            </a:r>
            <a:endParaRPr lang="en-US" sz="1600" dirty="0"/>
          </a:p>
        </p:txBody>
      </p:sp>
      <p:sp>
        <p:nvSpPr>
          <p:cNvPr id="8" name="Text 5"/>
          <p:cNvSpPr/>
          <p:nvPr/>
        </p:nvSpPr>
        <p:spPr>
          <a:xfrm>
            <a:off x="642938" y="2374878"/>
            <a:ext cx="510781" cy="120418"/>
          </a:xfrm>
          <a:prstGeom prst="rect">
            <a:avLst/>
          </a:prstGeom>
          <a:noFill/>
          <a:ln/>
        </p:spPr>
        <p:txBody>
          <a:bodyPr wrap="none" lIns="0" tIns="0" rIns="0" bIns="0" rtlCol="0" anchor="t">
            <a:spAutoFit/>
          </a:bodyPr>
          <a:lstStyle/>
          <a:p>
            <a:pPr marL="0" indent="0" algn="l">
              <a:lnSpc>
                <a:spcPts val="900"/>
              </a:lnSpc>
              <a:buNone/>
            </a:pPr>
            <a:r>
              <a:rPr lang="en-US" sz="1000" b="1" kern="0" spc="1" dirty="0">
                <a:solidFill>
                  <a:srgbClr val="C44D58"/>
                </a:solidFill>
              </a:rPr>
              <a:t>Raw Data</a:t>
            </a:r>
            <a:endParaRPr lang="en-US" sz="1000" dirty="0"/>
          </a:p>
        </p:txBody>
      </p:sp>
      <p:sp>
        <p:nvSpPr>
          <p:cNvPr id="9" name="Text 6"/>
          <p:cNvSpPr/>
          <p:nvPr/>
        </p:nvSpPr>
        <p:spPr>
          <a:xfrm>
            <a:off x="642938" y="2617766"/>
            <a:ext cx="2190731" cy="492314"/>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333333"/>
                </a:solidFill>
              </a:rPr>
              <a:t>Ingestion of raw, untransformed data. Exact copy of the source CSV with no modifications.</a:t>
            </a:r>
            <a:endParaRPr lang="en-US" sz="1000" dirty="0"/>
          </a:p>
        </p:txBody>
      </p:sp>
      <p:sp>
        <p:nvSpPr>
          <p:cNvPr id="10" name="Text 7"/>
          <p:cNvSpPr/>
          <p:nvPr/>
        </p:nvSpPr>
        <p:spPr>
          <a:xfrm>
            <a:off x="642938" y="3100639"/>
            <a:ext cx="2190731" cy="265009"/>
          </a:xfrm>
          <a:prstGeom prst="rect">
            <a:avLst/>
          </a:prstGeom>
          <a:noFill/>
          <a:ln/>
        </p:spPr>
        <p:txBody>
          <a:bodyPr wrap="square" lIns="0" tIns="127508" rIns="0" bIns="0" rtlCol="0" anchor="t">
            <a:spAutoFit/>
          </a:bodyPr>
          <a:lstStyle/>
          <a:p>
            <a:pPr marL="0" indent="0" algn="l">
              <a:lnSpc>
                <a:spcPts val="1100"/>
              </a:lnSpc>
              <a:buNone/>
            </a:pPr>
            <a:r>
              <a:rPr lang="en-US" sz="900" b="1" i="1" dirty="0">
                <a:solidFill>
                  <a:srgbClr val="C44D58"/>
                </a:solidFill>
              </a:rPr>
              <a:t>Key Task:</a:t>
            </a:r>
            <a:r>
              <a:rPr lang="en-US" sz="900" i="1" dirty="0">
                <a:solidFill>
                  <a:srgbClr val="666666"/>
                </a:solidFill>
              </a:rPr>
              <a:t> Initial loading and storage</a:t>
            </a:r>
            <a:endParaRPr lang="en-US" sz="900" dirty="0"/>
          </a:p>
        </p:txBody>
      </p:sp>
      <p:sp>
        <p:nvSpPr>
          <p:cNvPr id="11" name="Shape 8"/>
          <p:cNvSpPr/>
          <p:nvPr/>
        </p:nvSpPr>
        <p:spPr>
          <a:xfrm>
            <a:off x="3262294" y="1310125"/>
            <a:ext cx="2619384" cy="2999008"/>
          </a:xfrm>
          <a:prstGeom prst="rect">
            <a:avLst/>
          </a:prstGeom>
          <a:solidFill>
            <a:srgbClr val="F5F5F0"/>
          </a:solidFill>
          <a:ln w="18288">
            <a:solidFill>
              <a:srgbClr val="1A1A1A"/>
            </a:solidFill>
            <a:prstDash val="solid"/>
          </a:ln>
        </p:spPr>
        <p:txBody>
          <a:bodyPr/>
          <a:lstStyle/>
          <a:p>
            <a:endParaRPr lang="en-US" sz="2800"/>
          </a:p>
        </p:txBody>
      </p:sp>
      <p:sp>
        <p:nvSpPr>
          <p:cNvPr id="12" name="Text 9"/>
          <p:cNvSpPr/>
          <p:nvPr/>
        </p:nvSpPr>
        <p:spPr>
          <a:xfrm>
            <a:off x="3476606" y="1524437"/>
            <a:ext cx="468077" cy="429669"/>
          </a:xfrm>
          <a:prstGeom prst="rect">
            <a:avLst/>
          </a:prstGeom>
          <a:noFill/>
          <a:ln/>
        </p:spPr>
        <p:txBody>
          <a:bodyPr wrap="none" lIns="0" tIns="0" rIns="0" bIns="0" rtlCol="0" anchor="t">
            <a:spAutoFit/>
          </a:bodyPr>
          <a:lstStyle/>
          <a:p>
            <a:pPr marL="0" indent="0" algn="l">
              <a:lnSpc>
                <a:spcPts val="3200"/>
              </a:lnSpc>
              <a:buNone/>
            </a:pPr>
            <a:r>
              <a:rPr lang="en-US" sz="3600" b="1" dirty="0">
                <a:solidFill>
                  <a:srgbClr val="C44D58"/>
                </a:solidFill>
              </a:rPr>
              <a:t>02</a:t>
            </a:r>
            <a:endParaRPr lang="en-US" sz="3600" dirty="0"/>
          </a:p>
        </p:txBody>
      </p:sp>
      <p:sp>
        <p:nvSpPr>
          <p:cNvPr id="13" name="Text 10"/>
          <p:cNvSpPr/>
          <p:nvPr/>
        </p:nvSpPr>
        <p:spPr>
          <a:xfrm>
            <a:off x="3476606" y="2062004"/>
            <a:ext cx="971484" cy="208070"/>
          </a:xfrm>
          <a:prstGeom prst="rect">
            <a:avLst/>
          </a:prstGeom>
          <a:noFill/>
          <a:ln/>
        </p:spPr>
        <p:txBody>
          <a:bodyPr wrap="none" lIns="0" tIns="0" rIns="0" bIns="0" rtlCol="0" anchor="t">
            <a:spAutoFit/>
          </a:bodyPr>
          <a:lstStyle/>
          <a:p>
            <a:pPr marL="0" indent="0" algn="l">
              <a:lnSpc>
                <a:spcPts val="1600"/>
              </a:lnSpc>
              <a:buNone/>
            </a:pPr>
            <a:r>
              <a:rPr lang="en-US" sz="1600" b="1" dirty="0">
                <a:solidFill>
                  <a:srgbClr val="1A1A1A"/>
                </a:solidFill>
              </a:rPr>
              <a:t>Silver Layer</a:t>
            </a:r>
            <a:endParaRPr lang="en-US" sz="1600" dirty="0"/>
          </a:p>
        </p:txBody>
      </p:sp>
      <p:sp>
        <p:nvSpPr>
          <p:cNvPr id="14" name="Text 11"/>
          <p:cNvSpPr/>
          <p:nvPr/>
        </p:nvSpPr>
        <p:spPr>
          <a:xfrm>
            <a:off x="3476606" y="2374878"/>
            <a:ext cx="702052" cy="120418"/>
          </a:xfrm>
          <a:prstGeom prst="rect">
            <a:avLst/>
          </a:prstGeom>
          <a:noFill/>
          <a:ln/>
        </p:spPr>
        <p:txBody>
          <a:bodyPr wrap="none" lIns="0" tIns="0" rIns="0" bIns="0" rtlCol="0" anchor="t">
            <a:spAutoFit/>
          </a:bodyPr>
          <a:lstStyle/>
          <a:p>
            <a:pPr marL="0" indent="0" algn="l">
              <a:lnSpc>
                <a:spcPts val="900"/>
              </a:lnSpc>
              <a:buNone/>
            </a:pPr>
            <a:r>
              <a:rPr lang="en-US" sz="1000" b="1" kern="0" spc="1" dirty="0">
                <a:solidFill>
                  <a:srgbClr val="C44D58"/>
                </a:solidFill>
              </a:rPr>
              <a:t>Curated Data</a:t>
            </a:r>
            <a:endParaRPr lang="en-US" sz="1000" dirty="0"/>
          </a:p>
        </p:txBody>
      </p:sp>
      <p:sp>
        <p:nvSpPr>
          <p:cNvPr id="15" name="Text 12"/>
          <p:cNvSpPr/>
          <p:nvPr/>
        </p:nvSpPr>
        <p:spPr>
          <a:xfrm>
            <a:off x="3476606" y="2617766"/>
            <a:ext cx="2190759" cy="492314"/>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333333"/>
                </a:solidFill>
              </a:rPr>
              <a:t>Data cleaning, transformation, and structuring into a relational Star Schema model with Facts and Dimensions.</a:t>
            </a:r>
            <a:endParaRPr lang="en-US" sz="1000" dirty="0"/>
          </a:p>
        </p:txBody>
      </p:sp>
      <p:sp>
        <p:nvSpPr>
          <p:cNvPr id="16" name="Text 13"/>
          <p:cNvSpPr/>
          <p:nvPr/>
        </p:nvSpPr>
        <p:spPr>
          <a:xfrm>
            <a:off x="3476606" y="3270638"/>
            <a:ext cx="2190759" cy="265009"/>
          </a:xfrm>
          <a:prstGeom prst="rect">
            <a:avLst/>
          </a:prstGeom>
          <a:noFill/>
          <a:ln/>
        </p:spPr>
        <p:txBody>
          <a:bodyPr wrap="square" lIns="0" tIns="127508" rIns="0" bIns="0" rtlCol="0" anchor="t">
            <a:spAutoFit/>
          </a:bodyPr>
          <a:lstStyle/>
          <a:p>
            <a:pPr marL="0" indent="0" algn="l">
              <a:lnSpc>
                <a:spcPts val="1100"/>
              </a:lnSpc>
              <a:buNone/>
            </a:pPr>
            <a:r>
              <a:rPr lang="en-US" sz="900" b="1" i="1" dirty="0">
                <a:solidFill>
                  <a:srgbClr val="C44D58"/>
                </a:solidFill>
              </a:rPr>
              <a:t>Key Task:</a:t>
            </a:r>
            <a:r>
              <a:rPr lang="en-US" sz="900" i="1" dirty="0">
                <a:solidFill>
                  <a:srgbClr val="666666"/>
                </a:solidFill>
              </a:rPr>
              <a:t> Data consistency and quality</a:t>
            </a:r>
            <a:endParaRPr lang="en-US" sz="900" dirty="0"/>
          </a:p>
        </p:txBody>
      </p:sp>
      <p:sp>
        <p:nvSpPr>
          <p:cNvPr id="17" name="Shape 14"/>
          <p:cNvSpPr/>
          <p:nvPr/>
        </p:nvSpPr>
        <p:spPr>
          <a:xfrm>
            <a:off x="6095991" y="1310125"/>
            <a:ext cx="2619356" cy="2999008"/>
          </a:xfrm>
          <a:prstGeom prst="rect">
            <a:avLst/>
          </a:prstGeom>
          <a:solidFill>
            <a:srgbClr val="FFF9F7"/>
          </a:solidFill>
          <a:ln w="18288">
            <a:solidFill>
              <a:srgbClr val="1A1A1A"/>
            </a:solidFill>
            <a:prstDash val="solid"/>
          </a:ln>
        </p:spPr>
        <p:txBody>
          <a:bodyPr/>
          <a:lstStyle/>
          <a:p>
            <a:endParaRPr lang="en-US" sz="2800"/>
          </a:p>
        </p:txBody>
      </p:sp>
      <p:sp>
        <p:nvSpPr>
          <p:cNvPr id="18" name="Text 15"/>
          <p:cNvSpPr/>
          <p:nvPr/>
        </p:nvSpPr>
        <p:spPr>
          <a:xfrm>
            <a:off x="6310303" y="1524437"/>
            <a:ext cx="468077" cy="429669"/>
          </a:xfrm>
          <a:prstGeom prst="rect">
            <a:avLst/>
          </a:prstGeom>
          <a:noFill/>
          <a:ln/>
        </p:spPr>
        <p:txBody>
          <a:bodyPr wrap="none" lIns="0" tIns="0" rIns="0" bIns="0" rtlCol="0" anchor="t">
            <a:spAutoFit/>
          </a:bodyPr>
          <a:lstStyle/>
          <a:p>
            <a:pPr marL="0" indent="0" algn="l">
              <a:lnSpc>
                <a:spcPts val="3200"/>
              </a:lnSpc>
              <a:buNone/>
            </a:pPr>
            <a:r>
              <a:rPr lang="en-US" sz="3600" b="1" dirty="0">
                <a:solidFill>
                  <a:srgbClr val="C44D58"/>
                </a:solidFill>
              </a:rPr>
              <a:t>03</a:t>
            </a:r>
            <a:endParaRPr lang="en-US" sz="3600" dirty="0"/>
          </a:p>
        </p:txBody>
      </p:sp>
      <p:sp>
        <p:nvSpPr>
          <p:cNvPr id="19" name="Text 16"/>
          <p:cNvSpPr/>
          <p:nvPr/>
        </p:nvSpPr>
        <p:spPr>
          <a:xfrm>
            <a:off x="6310303" y="2062004"/>
            <a:ext cx="904478" cy="208070"/>
          </a:xfrm>
          <a:prstGeom prst="rect">
            <a:avLst/>
          </a:prstGeom>
          <a:noFill/>
          <a:ln/>
        </p:spPr>
        <p:txBody>
          <a:bodyPr wrap="none" lIns="0" tIns="0" rIns="0" bIns="0" rtlCol="0" anchor="t">
            <a:spAutoFit/>
          </a:bodyPr>
          <a:lstStyle/>
          <a:p>
            <a:pPr marL="0" indent="0" algn="l">
              <a:lnSpc>
                <a:spcPts val="1600"/>
              </a:lnSpc>
              <a:buNone/>
            </a:pPr>
            <a:r>
              <a:rPr lang="en-US" sz="1600" b="1" dirty="0">
                <a:solidFill>
                  <a:srgbClr val="1A1A1A"/>
                </a:solidFill>
              </a:rPr>
              <a:t>Gold Layer</a:t>
            </a:r>
            <a:endParaRPr lang="en-US" sz="1600" dirty="0"/>
          </a:p>
        </p:txBody>
      </p:sp>
      <p:sp>
        <p:nvSpPr>
          <p:cNvPr id="20" name="Text 17"/>
          <p:cNvSpPr/>
          <p:nvPr/>
        </p:nvSpPr>
        <p:spPr>
          <a:xfrm>
            <a:off x="6310303" y="2374878"/>
            <a:ext cx="819327" cy="120418"/>
          </a:xfrm>
          <a:prstGeom prst="rect">
            <a:avLst/>
          </a:prstGeom>
          <a:noFill/>
          <a:ln/>
        </p:spPr>
        <p:txBody>
          <a:bodyPr wrap="none" lIns="0" tIns="0" rIns="0" bIns="0" rtlCol="0" anchor="t">
            <a:spAutoFit/>
          </a:bodyPr>
          <a:lstStyle/>
          <a:p>
            <a:pPr marL="0" indent="0" algn="l">
              <a:lnSpc>
                <a:spcPts val="900"/>
              </a:lnSpc>
              <a:buNone/>
            </a:pPr>
            <a:r>
              <a:rPr lang="en-US" sz="1000" b="1" kern="0" spc="1" dirty="0">
                <a:solidFill>
                  <a:srgbClr val="C44D58"/>
                </a:solidFill>
              </a:rPr>
              <a:t>Business Ready</a:t>
            </a:r>
            <a:endParaRPr lang="en-US" sz="1000" dirty="0"/>
          </a:p>
        </p:txBody>
      </p:sp>
      <p:sp>
        <p:nvSpPr>
          <p:cNvPr id="21" name="Text 18"/>
          <p:cNvSpPr/>
          <p:nvPr/>
        </p:nvSpPr>
        <p:spPr>
          <a:xfrm>
            <a:off x="6310303" y="2617766"/>
            <a:ext cx="2190731" cy="492314"/>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333333"/>
                </a:solidFill>
              </a:rPr>
              <a:t>Aggregated, business-specific data for reporting and analytics. Highly summarized tables tailored to use cases.</a:t>
            </a:r>
            <a:endParaRPr lang="en-US" sz="1000" dirty="0"/>
          </a:p>
        </p:txBody>
      </p:sp>
      <p:sp>
        <p:nvSpPr>
          <p:cNvPr id="22" name="Text 19"/>
          <p:cNvSpPr/>
          <p:nvPr/>
        </p:nvSpPr>
        <p:spPr>
          <a:xfrm>
            <a:off x="6310303" y="3270638"/>
            <a:ext cx="2190731" cy="265009"/>
          </a:xfrm>
          <a:prstGeom prst="rect">
            <a:avLst/>
          </a:prstGeom>
          <a:noFill/>
          <a:ln/>
        </p:spPr>
        <p:txBody>
          <a:bodyPr wrap="square" lIns="0" tIns="127508" rIns="0" bIns="0" rtlCol="0" anchor="t">
            <a:spAutoFit/>
          </a:bodyPr>
          <a:lstStyle/>
          <a:p>
            <a:pPr marL="0" indent="0" algn="l">
              <a:lnSpc>
                <a:spcPts val="1100"/>
              </a:lnSpc>
              <a:buNone/>
            </a:pPr>
            <a:r>
              <a:rPr lang="en-US" sz="900" b="1" i="1" dirty="0">
                <a:solidFill>
                  <a:srgbClr val="C44D58"/>
                </a:solidFill>
              </a:rPr>
              <a:t>Key Task:</a:t>
            </a:r>
            <a:r>
              <a:rPr lang="en-US" sz="900" i="1" dirty="0">
                <a:solidFill>
                  <a:srgbClr val="666666"/>
                </a:solidFill>
              </a:rPr>
              <a:t> Direct BI support</a:t>
            </a:r>
            <a:endParaRPr lang="en-US" sz="900" dirty="0"/>
          </a:p>
        </p:txBody>
      </p:sp>
      <p:sp>
        <p:nvSpPr>
          <p:cNvPr id="23" name="Shape 20"/>
          <p:cNvSpPr/>
          <p:nvPr/>
        </p:nvSpPr>
        <p:spPr>
          <a:xfrm>
            <a:off x="0" y="4594882"/>
            <a:ext cx="9144000" cy="548618"/>
          </a:xfrm>
          <a:prstGeom prst="rect">
            <a:avLst/>
          </a:prstGeom>
          <a:solidFill>
            <a:srgbClr val="000000">
              <a:alpha val="0"/>
            </a:srgbClr>
          </a:solidFill>
          <a:ln/>
        </p:spPr>
        <p:txBody>
          <a:bodyPr/>
          <a:lstStyle/>
          <a:p>
            <a:endParaRPr lang="en-US" sz="2800"/>
          </a:p>
        </p:txBody>
      </p:sp>
      <p:sp>
        <p:nvSpPr>
          <p:cNvPr id="24" name="Shape 21"/>
          <p:cNvSpPr/>
          <p:nvPr/>
        </p:nvSpPr>
        <p:spPr>
          <a:xfrm>
            <a:off x="0" y="4594882"/>
            <a:ext cx="9144000" cy="14288"/>
          </a:xfrm>
          <a:prstGeom prst="rect">
            <a:avLst/>
          </a:prstGeom>
          <a:solidFill>
            <a:srgbClr val="1A1A1A"/>
          </a:solidFill>
          <a:ln/>
        </p:spPr>
        <p:txBody>
          <a:bodyPr/>
          <a:lstStyle/>
          <a:p>
            <a:endParaRPr lang="en-US" sz="2800"/>
          </a:p>
        </p:txBody>
      </p:sp>
      <p:sp>
        <p:nvSpPr>
          <p:cNvPr id="25" name="Text 22"/>
          <p:cNvSpPr/>
          <p:nvPr/>
        </p:nvSpPr>
        <p:spPr>
          <a:xfrm>
            <a:off x="428625" y="4716332"/>
            <a:ext cx="8286750" cy="325602"/>
          </a:xfrm>
          <a:prstGeom prst="rect">
            <a:avLst/>
          </a:prstGeom>
          <a:noFill/>
          <a:ln/>
        </p:spPr>
        <p:txBody>
          <a:bodyPr wrap="square" lIns="0" tIns="0" rIns="0" bIns="0" rtlCol="0" anchor="t">
            <a:spAutoFit/>
          </a:bodyPr>
          <a:lstStyle/>
          <a:p>
            <a:pPr marL="0" indent="0" algn="l">
              <a:lnSpc>
                <a:spcPts val="1300"/>
              </a:lnSpc>
              <a:buNone/>
            </a:pPr>
            <a:r>
              <a:rPr lang="en-US" sz="1000" b="1" dirty="0">
                <a:solidFill>
                  <a:srgbClr val="C44D58"/>
                </a:solidFill>
              </a:rPr>
              <a:t>Value Proposition:</a:t>
            </a:r>
            <a:r>
              <a:rPr lang="en-US" sz="1000" dirty="0">
                <a:solidFill>
                  <a:srgbClr val="333333"/>
                </a:solidFill>
              </a:rPr>
              <a:t> The Medallion Architecture ensures data quality through progressive refinement, enables governance at each stage, and provides business users with clean, aggregated data ready for analytics and reporting.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7729680" cy="384721"/>
          </a:xfrm>
          <a:prstGeom prst="rect">
            <a:avLst/>
          </a:prstGeom>
          <a:noFill/>
          <a:ln/>
        </p:spPr>
        <p:txBody>
          <a:bodyPr wrap="none" lIns="0" tIns="0" rIns="0" bIns="0" rtlCol="0" anchor="t">
            <a:spAutoFit/>
          </a:bodyPr>
          <a:lstStyle/>
          <a:p>
            <a:pPr marL="0" indent="0" algn="l">
              <a:lnSpc>
                <a:spcPts val="3000"/>
              </a:lnSpc>
              <a:buNone/>
            </a:pPr>
            <a:r>
              <a:rPr lang="en-US" sz="2800" b="1" dirty="0">
                <a:solidFill>
                  <a:srgbClr val="1A1A1A"/>
                </a:solidFill>
              </a:rPr>
              <a:t>Bronze Layer: Establishing the Raw Data Foundation</a:t>
            </a:r>
            <a:endParaRPr lang="en-US" sz="2800" dirty="0"/>
          </a:p>
        </p:txBody>
      </p:sp>
      <p:sp>
        <p:nvSpPr>
          <p:cNvPr id="4" name="Text 1"/>
          <p:cNvSpPr/>
          <p:nvPr/>
        </p:nvSpPr>
        <p:spPr>
          <a:xfrm>
            <a:off x="428625" y="820080"/>
            <a:ext cx="7643118" cy="16511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666666"/>
                </a:solidFill>
              </a:rPr>
              <a:t>The Bronze layer stores the raw FashionDataset2.csv exactly as received, providing an auditable historical record and a single source of truth for downstream work.</a:t>
            </a:r>
            <a:endParaRPr lang="en-US" sz="900" dirty="0"/>
          </a:p>
        </p:txBody>
      </p:sp>
      <p:sp>
        <p:nvSpPr>
          <p:cNvPr id="5" name="Text 2"/>
          <p:cNvSpPr/>
          <p:nvPr/>
        </p:nvSpPr>
        <p:spPr>
          <a:xfrm>
            <a:off x="428625" y="1241561"/>
            <a:ext cx="1687963" cy="170175"/>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A1A1A"/>
                </a:solidFill>
              </a:rPr>
              <a:t>Key Tasks &amp; Accomplishments</a:t>
            </a:r>
            <a:endParaRPr lang="en-US" sz="1050" dirty="0"/>
          </a:p>
        </p:txBody>
      </p:sp>
      <p:sp>
        <p:nvSpPr>
          <p:cNvPr id="6" name="Text 3"/>
          <p:cNvSpPr/>
          <p:nvPr/>
        </p:nvSpPr>
        <p:spPr>
          <a:xfrm>
            <a:off x="428625" y="1521954"/>
            <a:ext cx="110608" cy="186718"/>
          </a:xfrm>
          <a:prstGeom prst="rect">
            <a:avLst/>
          </a:prstGeom>
          <a:noFill/>
          <a:ln/>
        </p:spPr>
        <p:txBody>
          <a:bodyPr wrap="none" lIns="0" tIns="0" rIns="0" bIns="0" rtlCol="0" anchor="t">
            <a:spAutoFit/>
          </a:bodyPr>
          <a:lstStyle/>
          <a:p>
            <a:pPr marL="0" indent="0" algn="l">
              <a:lnSpc>
                <a:spcPts val="1600"/>
              </a:lnSpc>
              <a:buNone/>
            </a:pPr>
            <a:r>
              <a:rPr lang="en-US" sz="1000" dirty="0">
                <a:solidFill>
                  <a:srgbClr val="C44D58"/>
                </a:solidFill>
              </a:rPr>
              <a:t>▸</a:t>
            </a:r>
            <a:endParaRPr lang="en-US" sz="1000" dirty="0"/>
          </a:p>
        </p:txBody>
      </p:sp>
      <p:sp>
        <p:nvSpPr>
          <p:cNvPr id="7" name="Text 4"/>
          <p:cNvSpPr/>
          <p:nvPr/>
        </p:nvSpPr>
        <p:spPr>
          <a:xfrm>
            <a:off x="628650" y="1543385"/>
            <a:ext cx="844783" cy="165110"/>
          </a:xfrm>
          <a:prstGeom prst="rect">
            <a:avLst/>
          </a:prstGeom>
          <a:noFill/>
          <a:ln/>
        </p:spPr>
        <p:txBody>
          <a:bodyPr wrap="none" lIns="0" tIns="0" rIns="0" bIns="0" rtlCol="0" anchor="t">
            <a:spAutoFit/>
          </a:bodyPr>
          <a:lstStyle/>
          <a:p>
            <a:pPr marL="0" indent="0" algn="l">
              <a:lnSpc>
                <a:spcPts val="1400"/>
              </a:lnSpc>
              <a:buNone/>
            </a:pPr>
            <a:r>
              <a:rPr lang="en-US" sz="900" b="1" dirty="0">
                <a:solidFill>
                  <a:srgbClr val="C44D58"/>
                </a:solidFill>
              </a:rPr>
              <a:t>Schema Creation:</a:t>
            </a:r>
            <a:endParaRPr lang="en-US" sz="900" dirty="0"/>
          </a:p>
        </p:txBody>
      </p:sp>
      <p:sp>
        <p:nvSpPr>
          <p:cNvPr id="8" name="Text 5"/>
          <p:cNvSpPr/>
          <p:nvPr/>
        </p:nvSpPr>
        <p:spPr>
          <a:xfrm>
            <a:off x="1501276" y="1543385"/>
            <a:ext cx="2457404" cy="16511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333333"/>
                </a:solidFill>
              </a:rPr>
              <a:t>Created the BRONZE schema in the project database</a:t>
            </a:r>
            <a:endParaRPr lang="en-US" sz="900" dirty="0"/>
          </a:p>
        </p:txBody>
      </p:sp>
      <p:sp>
        <p:nvSpPr>
          <p:cNvPr id="9" name="Text 6"/>
          <p:cNvSpPr/>
          <p:nvPr/>
        </p:nvSpPr>
        <p:spPr>
          <a:xfrm>
            <a:off x="428625" y="1787696"/>
            <a:ext cx="110608" cy="186718"/>
          </a:xfrm>
          <a:prstGeom prst="rect">
            <a:avLst/>
          </a:prstGeom>
          <a:noFill/>
          <a:ln/>
        </p:spPr>
        <p:txBody>
          <a:bodyPr wrap="none" lIns="0" tIns="0" rIns="0" bIns="0" rtlCol="0" anchor="t">
            <a:spAutoFit/>
          </a:bodyPr>
          <a:lstStyle/>
          <a:p>
            <a:pPr marL="0" indent="0" algn="l">
              <a:lnSpc>
                <a:spcPts val="1600"/>
              </a:lnSpc>
              <a:buNone/>
            </a:pPr>
            <a:r>
              <a:rPr lang="en-US" sz="1000" dirty="0">
                <a:solidFill>
                  <a:srgbClr val="C44D58"/>
                </a:solidFill>
              </a:rPr>
              <a:t>▸</a:t>
            </a:r>
            <a:endParaRPr lang="en-US" sz="1000" dirty="0"/>
          </a:p>
        </p:txBody>
      </p:sp>
      <p:sp>
        <p:nvSpPr>
          <p:cNvPr id="10" name="Text 7"/>
          <p:cNvSpPr/>
          <p:nvPr/>
        </p:nvSpPr>
        <p:spPr>
          <a:xfrm>
            <a:off x="628650" y="1809127"/>
            <a:ext cx="803105" cy="165110"/>
          </a:xfrm>
          <a:prstGeom prst="rect">
            <a:avLst/>
          </a:prstGeom>
          <a:noFill/>
          <a:ln/>
        </p:spPr>
        <p:txBody>
          <a:bodyPr wrap="none" lIns="0" tIns="0" rIns="0" bIns="0" rtlCol="0" anchor="t">
            <a:spAutoFit/>
          </a:bodyPr>
          <a:lstStyle/>
          <a:p>
            <a:pPr marL="0" indent="0" algn="l">
              <a:lnSpc>
                <a:spcPts val="1400"/>
              </a:lnSpc>
              <a:buNone/>
            </a:pPr>
            <a:r>
              <a:rPr lang="en-US" sz="900" b="1" dirty="0">
                <a:solidFill>
                  <a:srgbClr val="C44D58"/>
                </a:solidFill>
              </a:rPr>
              <a:t>Table Definition:</a:t>
            </a:r>
            <a:endParaRPr lang="en-US" sz="900" dirty="0"/>
          </a:p>
        </p:txBody>
      </p:sp>
      <p:sp>
        <p:nvSpPr>
          <p:cNvPr id="11" name="Text 8"/>
          <p:cNvSpPr/>
          <p:nvPr/>
        </p:nvSpPr>
        <p:spPr>
          <a:xfrm>
            <a:off x="1431755" y="1819052"/>
            <a:ext cx="3754403" cy="344646"/>
          </a:xfrm>
          <a:prstGeom prst="rect">
            <a:avLst/>
          </a:prstGeom>
          <a:noFill/>
          <a:ln/>
        </p:spPr>
        <p:txBody>
          <a:bodyPr wrap="square" lIns="0" tIns="0" rIns="0" bIns="0" rtlCol="0" anchor="t">
            <a:spAutoFit/>
          </a:bodyPr>
          <a:lstStyle/>
          <a:p>
            <a:pPr marL="0" indent="0" algn="l">
              <a:lnSpc>
                <a:spcPts val="1400"/>
              </a:lnSpc>
              <a:buNone/>
            </a:pPr>
            <a:r>
              <a:rPr lang="en-US" sz="900" dirty="0">
                <a:solidFill>
                  <a:srgbClr val="333333"/>
                </a:solidFill>
              </a:rPr>
              <a:t>Defined FASHION_BRONZE_RAW table with columns matching the </a:t>
            </a:r>
          </a:p>
          <a:p>
            <a:pPr marL="0" indent="0" algn="l">
              <a:lnSpc>
                <a:spcPts val="1400"/>
              </a:lnSpc>
              <a:buNone/>
            </a:pPr>
            <a:r>
              <a:rPr lang="en-US" sz="900" dirty="0">
                <a:solidFill>
                  <a:srgbClr val="333333"/>
                </a:solidFill>
              </a:rPr>
              <a:t>CSV structure</a:t>
            </a:r>
            <a:endParaRPr lang="en-US" sz="900" dirty="0"/>
          </a:p>
        </p:txBody>
      </p:sp>
      <p:sp>
        <p:nvSpPr>
          <p:cNvPr id="12" name="Text 9"/>
          <p:cNvSpPr/>
          <p:nvPr/>
        </p:nvSpPr>
        <p:spPr>
          <a:xfrm>
            <a:off x="428625" y="2233454"/>
            <a:ext cx="110608" cy="186718"/>
          </a:xfrm>
          <a:prstGeom prst="rect">
            <a:avLst/>
          </a:prstGeom>
          <a:noFill/>
          <a:ln/>
        </p:spPr>
        <p:txBody>
          <a:bodyPr wrap="none" lIns="0" tIns="0" rIns="0" bIns="0" rtlCol="0" anchor="t">
            <a:spAutoFit/>
          </a:bodyPr>
          <a:lstStyle/>
          <a:p>
            <a:pPr marL="0" indent="0" algn="l">
              <a:lnSpc>
                <a:spcPts val="1600"/>
              </a:lnSpc>
              <a:buNone/>
            </a:pPr>
            <a:r>
              <a:rPr lang="en-US" sz="1000" dirty="0">
                <a:solidFill>
                  <a:srgbClr val="C44D58"/>
                </a:solidFill>
              </a:rPr>
              <a:t>▸</a:t>
            </a:r>
            <a:endParaRPr lang="en-US" sz="1000" dirty="0"/>
          </a:p>
        </p:txBody>
      </p:sp>
      <p:sp>
        <p:nvSpPr>
          <p:cNvPr id="13" name="Text 10"/>
          <p:cNvSpPr/>
          <p:nvPr/>
        </p:nvSpPr>
        <p:spPr>
          <a:xfrm>
            <a:off x="628650" y="2254886"/>
            <a:ext cx="662041" cy="165110"/>
          </a:xfrm>
          <a:prstGeom prst="rect">
            <a:avLst/>
          </a:prstGeom>
          <a:noFill/>
          <a:ln/>
        </p:spPr>
        <p:txBody>
          <a:bodyPr wrap="none" lIns="0" tIns="0" rIns="0" bIns="0" rtlCol="0" anchor="t">
            <a:spAutoFit/>
          </a:bodyPr>
          <a:lstStyle/>
          <a:p>
            <a:pPr marL="0" indent="0" algn="l">
              <a:lnSpc>
                <a:spcPts val="1400"/>
              </a:lnSpc>
              <a:buNone/>
            </a:pPr>
            <a:r>
              <a:rPr lang="en-US" sz="900" b="1" dirty="0">
                <a:solidFill>
                  <a:srgbClr val="C44D58"/>
                </a:solidFill>
              </a:rPr>
              <a:t>Data Loading:</a:t>
            </a:r>
            <a:endParaRPr lang="en-US" sz="900" dirty="0"/>
          </a:p>
        </p:txBody>
      </p:sp>
      <p:sp>
        <p:nvSpPr>
          <p:cNvPr id="14" name="Text 11"/>
          <p:cNvSpPr/>
          <p:nvPr/>
        </p:nvSpPr>
        <p:spPr>
          <a:xfrm>
            <a:off x="1233042" y="2254886"/>
            <a:ext cx="3597576" cy="344646"/>
          </a:xfrm>
          <a:prstGeom prst="rect">
            <a:avLst/>
          </a:prstGeom>
          <a:noFill/>
          <a:ln/>
        </p:spPr>
        <p:txBody>
          <a:bodyPr wrap="square" lIns="0" tIns="0" rIns="0" bIns="0" rtlCol="0" anchor="t">
            <a:spAutoFit/>
          </a:bodyPr>
          <a:lstStyle/>
          <a:p>
            <a:pPr marL="0" indent="0" algn="l">
              <a:lnSpc>
                <a:spcPts val="1400"/>
              </a:lnSpc>
              <a:buNone/>
            </a:pPr>
            <a:r>
              <a:rPr lang="en-US" sz="900" dirty="0">
                <a:solidFill>
                  <a:srgbClr val="333333"/>
                </a:solidFill>
              </a:rPr>
              <a:t>Used Snowflake's COPY INTO command to efficiently load the entire CSV dataset</a:t>
            </a:r>
            <a:endParaRPr lang="en-US" sz="900" dirty="0"/>
          </a:p>
        </p:txBody>
      </p:sp>
      <p:sp>
        <p:nvSpPr>
          <p:cNvPr id="15" name="Text 12"/>
          <p:cNvSpPr/>
          <p:nvPr/>
        </p:nvSpPr>
        <p:spPr>
          <a:xfrm>
            <a:off x="428625" y="2679213"/>
            <a:ext cx="110608" cy="186718"/>
          </a:xfrm>
          <a:prstGeom prst="rect">
            <a:avLst/>
          </a:prstGeom>
          <a:noFill/>
          <a:ln/>
        </p:spPr>
        <p:txBody>
          <a:bodyPr wrap="none" lIns="0" tIns="0" rIns="0" bIns="0" rtlCol="0" anchor="t">
            <a:spAutoFit/>
          </a:bodyPr>
          <a:lstStyle/>
          <a:p>
            <a:pPr marL="0" indent="0" algn="l">
              <a:lnSpc>
                <a:spcPts val="1600"/>
              </a:lnSpc>
              <a:buNone/>
            </a:pPr>
            <a:r>
              <a:rPr lang="en-US" sz="1000" dirty="0">
                <a:solidFill>
                  <a:srgbClr val="C44D58"/>
                </a:solidFill>
              </a:rPr>
              <a:t>▸</a:t>
            </a:r>
            <a:endParaRPr lang="en-US" sz="1000" dirty="0"/>
          </a:p>
        </p:txBody>
      </p:sp>
      <p:sp>
        <p:nvSpPr>
          <p:cNvPr id="16" name="Text 13"/>
          <p:cNvSpPr/>
          <p:nvPr/>
        </p:nvSpPr>
        <p:spPr>
          <a:xfrm>
            <a:off x="628650" y="2700644"/>
            <a:ext cx="597921" cy="165110"/>
          </a:xfrm>
          <a:prstGeom prst="rect">
            <a:avLst/>
          </a:prstGeom>
          <a:noFill/>
          <a:ln/>
        </p:spPr>
        <p:txBody>
          <a:bodyPr wrap="none" lIns="0" tIns="0" rIns="0" bIns="0" rtlCol="0" anchor="t">
            <a:spAutoFit/>
          </a:bodyPr>
          <a:lstStyle/>
          <a:p>
            <a:pPr marL="0" indent="0" algn="l">
              <a:lnSpc>
                <a:spcPts val="1400"/>
              </a:lnSpc>
              <a:buNone/>
            </a:pPr>
            <a:r>
              <a:rPr lang="en-US" sz="900" b="1" dirty="0">
                <a:solidFill>
                  <a:srgbClr val="C44D58"/>
                </a:solidFill>
              </a:rPr>
              <a:t>Auditability:</a:t>
            </a:r>
            <a:endParaRPr lang="en-US" sz="900" dirty="0"/>
          </a:p>
        </p:txBody>
      </p:sp>
      <p:sp>
        <p:nvSpPr>
          <p:cNvPr id="17" name="Text 14"/>
          <p:cNvSpPr/>
          <p:nvPr/>
        </p:nvSpPr>
        <p:spPr>
          <a:xfrm>
            <a:off x="1200150" y="2692421"/>
            <a:ext cx="3632485" cy="344646"/>
          </a:xfrm>
          <a:prstGeom prst="rect">
            <a:avLst/>
          </a:prstGeom>
          <a:noFill/>
          <a:ln/>
        </p:spPr>
        <p:txBody>
          <a:bodyPr wrap="square" lIns="0" tIns="0" rIns="0" bIns="0" rtlCol="0" anchor="t">
            <a:spAutoFit/>
          </a:bodyPr>
          <a:lstStyle/>
          <a:p>
            <a:pPr marL="0" indent="0" algn="l">
              <a:lnSpc>
                <a:spcPts val="1400"/>
              </a:lnSpc>
              <a:buNone/>
            </a:pPr>
            <a:r>
              <a:rPr lang="en-US" sz="900" dirty="0">
                <a:solidFill>
                  <a:srgbClr val="333333"/>
                </a:solidFill>
              </a:rPr>
              <a:t>Added _INGESTION_TIMESTAMP column to track when raw data was </a:t>
            </a:r>
          </a:p>
          <a:p>
            <a:pPr marL="0" indent="0" algn="l">
              <a:lnSpc>
                <a:spcPts val="1400"/>
              </a:lnSpc>
              <a:buNone/>
            </a:pPr>
            <a:r>
              <a:rPr lang="en-US" sz="900" dirty="0">
                <a:solidFill>
                  <a:srgbClr val="333333"/>
                </a:solidFill>
              </a:rPr>
              <a:t>loaded</a:t>
            </a:r>
            <a:endParaRPr lang="en-US" sz="900" dirty="0"/>
          </a:p>
        </p:txBody>
      </p:sp>
      <p:sp>
        <p:nvSpPr>
          <p:cNvPr id="18" name="Text 15"/>
          <p:cNvSpPr/>
          <p:nvPr/>
        </p:nvSpPr>
        <p:spPr>
          <a:xfrm>
            <a:off x="428625" y="3303566"/>
            <a:ext cx="771045" cy="170175"/>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A1A1A"/>
                </a:solidFill>
              </a:rPr>
              <a:t>Data Integrity</a:t>
            </a:r>
            <a:endParaRPr lang="en-US" sz="1050" dirty="0"/>
          </a:p>
        </p:txBody>
      </p:sp>
      <p:sp>
        <p:nvSpPr>
          <p:cNvPr id="19" name="Text 16"/>
          <p:cNvSpPr/>
          <p:nvPr/>
        </p:nvSpPr>
        <p:spPr>
          <a:xfrm>
            <a:off x="428625" y="3583958"/>
            <a:ext cx="3834383" cy="155492"/>
          </a:xfrm>
          <a:prstGeom prst="rect">
            <a:avLst/>
          </a:prstGeom>
          <a:noFill/>
          <a:ln/>
        </p:spPr>
        <p:txBody>
          <a:bodyPr wrap="none" lIns="0" tIns="0" rIns="0" bIns="0" rtlCol="0" anchor="t">
            <a:spAutoFit/>
          </a:bodyPr>
          <a:lstStyle/>
          <a:p>
            <a:pPr marL="0" indent="0" algn="l">
              <a:lnSpc>
                <a:spcPts val="1300"/>
              </a:lnSpc>
              <a:buNone/>
            </a:pPr>
            <a:r>
              <a:rPr lang="en-US" sz="900" dirty="0">
                <a:solidFill>
                  <a:srgbClr val="333333"/>
                </a:solidFill>
              </a:rPr>
              <a:t>Maintained exact replica of source data with no modifications or transformations.</a:t>
            </a:r>
            <a:endParaRPr lang="en-US" sz="900" dirty="0"/>
          </a:p>
        </p:txBody>
      </p:sp>
      <p:sp>
        <p:nvSpPr>
          <p:cNvPr id="20" name="Text 17"/>
          <p:cNvSpPr/>
          <p:nvPr/>
        </p:nvSpPr>
        <p:spPr>
          <a:xfrm>
            <a:off x="4714875" y="1241561"/>
            <a:ext cx="993862" cy="170175"/>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A1A1A"/>
                </a:solidFill>
              </a:rPr>
              <a:t>What We Created</a:t>
            </a:r>
            <a:endParaRPr lang="en-US" sz="1050" dirty="0"/>
          </a:p>
        </p:txBody>
      </p:sp>
      <p:sp>
        <p:nvSpPr>
          <p:cNvPr id="21" name="Shape 18"/>
          <p:cNvSpPr/>
          <p:nvPr/>
        </p:nvSpPr>
        <p:spPr>
          <a:xfrm>
            <a:off x="4714875" y="1521954"/>
            <a:ext cx="4000500" cy="3446859"/>
          </a:xfrm>
          <a:prstGeom prst="rect">
            <a:avLst/>
          </a:prstGeom>
          <a:solidFill>
            <a:srgbClr val="FFFFFF"/>
          </a:solidFill>
          <a:ln w="18288">
            <a:solidFill>
              <a:srgbClr val="1A1A1A"/>
            </a:solidFill>
            <a:prstDash val="solid"/>
          </a:ln>
        </p:spPr>
        <p:txBody>
          <a:bodyPr/>
          <a:lstStyle/>
          <a:p>
            <a:endParaRPr lang="en-US" sz="2400"/>
          </a:p>
        </p:txBody>
      </p:sp>
      <p:sp>
        <p:nvSpPr>
          <p:cNvPr id="22" name="Text 19"/>
          <p:cNvSpPr/>
          <p:nvPr/>
        </p:nvSpPr>
        <p:spPr>
          <a:xfrm>
            <a:off x="4829175" y="1636254"/>
            <a:ext cx="535211" cy="91051"/>
          </a:xfrm>
          <a:prstGeom prst="rect">
            <a:avLst/>
          </a:prstGeom>
          <a:noFill/>
          <a:ln/>
        </p:spPr>
        <p:txBody>
          <a:bodyPr wrap="none" lIns="0" tIns="0" rIns="0" bIns="0" rtlCol="0" anchor="t">
            <a:spAutoFit/>
          </a:bodyPr>
          <a:lstStyle/>
          <a:p>
            <a:pPr marL="0" indent="0" algn="l">
              <a:lnSpc>
                <a:spcPts val="700"/>
              </a:lnSpc>
              <a:buNone/>
            </a:pPr>
            <a:r>
              <a:rPr lang="en-US" sz="700" b="1" kern="0" spc="1" dirty="0">
                <a:solidFill>
                  <a:srgbClr val="C44D58"/>
                </a:solidFill>
              </a:rPr>
              <a:t>Schema Name</a:t>
            </a:r>
            <a:endParaRPr lang="en-US" sz="700" dirty="0"/>
          </a:p>
        </p:txBody>
      </p:sp>
      <p:sp>
        <p:nvSpPr>
          <p:cNvPr id="23" name="Text 20"/>
          <p:cNvSpPr/>
          <p:nvPr/>
        </p:nvSpPr>
        <p:spPr>
          <a:xfrm>
            <a:off x="4829175" y="1786272"/>
            <a:ext cx="386324"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1A1A1A"/>
                </a:solidFill>
              </a:rPr>
              <a:t>BRONZE</a:t>
            </a:r>
            <a:endParaRPr lang="en-US" sz="900" dirty="0"/>
          </a:p>
        </p:txBody>
      </p:sp>
      <p:sp>
        <p:nvSpPr>
          <p:cNvPr id="24" name="Text 21"/>
          <p:cNvSpPr/>
          <p:nvPr/>
        </p:nvSpPr>
        <p:spPr>
          <a:xfrm>
            <a:off x="4829175" y="1997013"/>
            <a:ext cx="450123" cy="91051"/>
          </a:xfrm>
          <a:prstGeom prst="rect">
            <a:avLst/>
          </a:prstGeom>
          <a:noFill/>
          <a:ln/>
        </p:spPr>
        <p:txBody>
          <a:bodyPr wrap="none" lIns="0" tIns="0" rIns="0" bIns="0" rtlCol="0" anchor="t">
            <a:spAutoFit/>
          </a:bodyPr>
          <a:lstStyle/>
          <a:p>
            <a:pPr marL="0" indent="0" algn="l">
              <a:lnSpc>
                <a:spcPts val="700"/>
              </a:lnSpc>
              <a:buNone/>
            </a:pPr>
            <a:r>
              <a:rPr lang="en-US" sz="700" b="1" kern="0" spc="1" dirty="0">
                <a:solidFill>
                  <a:srgbClr val="C44D58"/>
                </a:solidFill>
              </a:rPr>
              <a:t>Table Name</a:t>
            </a:r>
            <a:endParaRPr lang="en-US" sz="700" dirty="0"/>
          </a:p>
        </p:txBody>
      </p:sp>
      <p:sp>
        <p:nvSpPr>
          <p:cNvPr id="25" name="Text 22"/>
          <p:cNvSpPr/>
          <p:nvPr/>
        </p:nvSpPr>
        <p:spPr>
          <a:xfrm>
            <a:off x="4829175" y="2147032"/>
            <a:ext cx="1158972"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1A1A1A"/>
                </a:solidFill>
              </a:rPr>
              <a:t>FASHION_BRONZE_RAW</a:t>
            </a:r>
            <a:endParaRPr lang="en-US" sz="900" dirty="0"/>
          </a:p>
        </p:txBody>
      </p:sp>
      <p:sp>
        <p:nvSpPr>
          <p:cNvPr id="26" name="Text 23"/>
          <p:cNvSpPr/>
          <p:nvPr/>
        </p:nvSpPr>
        <p:spPr>
          <a:xfrm>
            <a:off x="4829175" y="2357772"/>
            <a:ext cx="551498" cy="91051"/>
          </a:xfrm>
          <a:prstGeom prst="rect">
            <a:avLst/>
          </a:prstGeom>
          <a:noFill/>
          <a:ln/>
        </p:spPr>
        <p:txBody>
          <a:bodyPr wrap="none" lIns="0" tIns="0" rIns="0" bIns="0" rtlCol="0" anchor="t">
            <a:spAutoFit/>
          </a:bodyPr>
          <a:lstStyle/>
          <a:p>
            <a:pPr marL="0" indent="0" algn="l">
              <a:lnSpc>
                <a:spcPts val="700"/>
              </a:lnSpc>
              <a:buNone/>
            </a:pPr>
            <a:r>
              <a:rPr lang="en-US" sz="700" b="1" kern="0" spc="1" dirty="0">
                <a:solidFill>
                  <a:srgbClr val="C44D58"/>
                </a:solidFill>
              </a:rPr>
              <a:t>Table Columns</a:t>
            </a:r>
            <a:endParaRPr lang="en-US" sz="700" dirty="0"/>
          </a:p>
        </p:txBody>
      </p:sp>
      <p:sp>
        <p:nvSpPr>
          <p:cNvPr id="27" name="Text 24"/>
          <p:cNvSpPr/>
          <p:nvPr/>
        </p:nvSpPr>
        <p:spPr>
          <a:xfrm>
            <a:off x="4829175" y="2507791"/>
            <a:ext cx="5770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C44D58"/>
                </a:solidFill>
              </a:rPr>
              <a:t>•</a:t>
            </a:r>
            <a:endParaRPr lang="en-US" sz="900" dirty="0"/>
          </a:p>
        </p:txBody>
      </p:sp>
      <p:sp>
        <p:nvSpPr>
          <p:cNvPr id="28" name="Text 25"/>
          <p:cNvSpPr/>
          <p:nvPr/>
        </p:nvSpPr>
        <p:spPr>
          <a:xfrm>
            <a:off x="4972050" y="2513149"/>
            <a:ext cx="458459"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ROW_IDX</a:t>
            </a:r>
            <a:endParaRPr lang="en-US" sz="900" dirty="0"/>
          </a:p>
        </p:txBody>
      </p:sp>
      <p:sp>
        <p:nvSpPr>
          <p:cNvPr id="29" name="Text 26"/>
          <p:cNvSpPr/>
          <p:nvPr/>
        </p:nvSpPr>
        <p:spPr>
          <a:xfrm>
            <a:off x="4829175" y="2689957"/>
            <a:ext cx="5770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C44D58"/>
                </a:solidFill>
              </a:rPr>
              <a:t>•</a:t>
            </a:r>
            <a:endParaRPr lang="en-US" sz="900" dirty="0"/>
          </a:p>
        </p:txBody>
      </p:sp>
      <p:sp>
        <p:nvSpPr>
          <p:cNvPr id="30" name="Text 27"/>
          <p:cNvSpPr/>
          <p:nvPr/>
        </p:nvSpPr>
        <p:spPr>
          <a:xfrm>
            <a:off x="4972050" y="2695315"/>
            <a:ext cx="633187"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BRANDNAME</a:t>
            </a:r>
            <a:endParaRPr lang="en-US" sz="900" dirty="0"/>
          </a:p>
        </p:txBody>
      </p:sp>
      <p:sp>
        <p:nvSpPr>
          <p:cNvPr id="31" name="Text 28"/>
          <p:cNvSpPr/>
          <p:nvPr/>
        </p:nvSpPr>
        <p:spPr>
          <a:xfrm>
            <a:off x="4829175" y="2872122"/>
            <a:ext cx="5770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C44D58"/>
                </a:solidFill>
              </a:rPr>
              <a:t>•</a:t>
            </a:r>
            <a:endParaRPr lang="en-US" sz="900" dirty="0"/>
          </a:p>
        </p:txBody>
      </p:sp>
      <p:sp>
        <p:nvSpPr>
          <p:cNvPr id="32" name="Text 29"/>
          <p:cNvSpPr/>
          <p:nvPr/>
        </p:nvSpPr>
        <p:spPr>
          <a:xfrm>
            <a:off x="4972050" y="2877480"/>
            <a:ext cx="379912"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DETAILS</a:t>
            </a:r>
            <a:endParaRPr lang="en-US" sz="900" dirty="0"/>
          </a:p>
        </p:txBody>
      </p:sp>
      <p:sp>
        <p:nvSpPr>
          <p:cNvPr id="33" name="Text 30"/>
          <p:cNvSpPr/>
          <p:nvPr/>
        </p:nvSpPr>
        <p:spPr>
          <a:xfrm>
            <a:off x="4829175" y="3054288"/>
            <a:ext cx="5770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C44D58"/>
                </a:solidFill>
              </a:rPr>
              <a:t>•</a:t>
            </a:r>
            <a:endParaRPr lang="en-US" sz="900" dirty="0"/>
          </a:p>
        </p:txBody>
      </p:sp>
      <p:sp>
        <p:nvSpPr>
          <p:cNvPr id="34" name="Text 31"/>
          <p:cNvSpPr/>
          <p:nvPr/>
        </p:nvSpPr>
        <p:spPr>
          <a:xfrm>
            <a:off x="4972050" y="3059646"/>
            <a:ext cx="245260"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SIZES</a:t>
            </a:r>
            <a:endParaRPr lang="en-US" sz="900" dirty="0"/>
          </a:p>
        </p:txBody>
      </p:sp>
      <p:sp>
        <p:nvSpPr>
          <p:cNvPr id="35" name="Text 32"/>
          <p:cNvSpPr/>
          <p:nvPr/>
        </p:nvSpPr>
        <p:spPr>
          <a:xfrm>
            <a:off x="4829175" y="3236454"/>
            <a:ext cx="5770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C44D58"/>
                </a:solidFill>
              </a:rPr>
              <a:t>•</a:t>
            </a:r>
            <a:endParaRPr lang="en-US" sz="900" dirty="0"/>
          </a:p>
        </p:txBody>
      </p:sp>
      <p:sp>
        <p:nvSpPr>
          <p:cNvPr id="36" name="Text 33"/>
          <p:cNvSpPr/>
          <p:nvPr/>
        </p:nvSpPr>
        <p:spPr>
          <a:xfrm>
            <a:off x="4972050" y="3241811"/>
            <a:ext cx="221214"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MRP</a:t>
            </a:r>
            <a:endParaRPr lang="en-US" sz="900" dirty="0"/>
          </a:p>
        </p:txBody>
      </p:sp>
      <p:sp>
        <p:nvSpPr>
          <p:cNvPr id="37" name="Text 34"/>
          <p:cNvSpPr/>
          <p:nvPr/>
        </p:nvSpPr>
        <p:spPr>
          <a:xfrm>
            <a:off x="4829175" y="3418619"/>
            <a:ext cx="5770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C44D58"/>
                </a:solidFill>
              </a:rPr>
              <a:t>•</a:t>
            </a:r>
            <a:endParaRPr lang="en-US" sz="900" dirty="0"/>
          </a:p>
        </p:txBody>
      </p:sp>
      <p:sp>
        <p:nvSpPr>
          <p:cNvPr id="38" name="Text 35"/>
          <p:cNvSpPr/>
          <p:nvPr/>
        </p:nvSpPr>
        <p:spPr>
          <a:xfrm>
            <a:off x="4972050" y="3423977"/>
            <a:ext cx="472886"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SELLPRICE</a:t>
            </a:r>
            <a:endParaRPr lang="en-US" sz="900" dirty="0"/>
          </a:p>
        </p:txBody>
      </p:sp>
      <p:sp>
        <p:nvSpPr>
          <p:cNvPr id="39" name="Text 36"/>
          <p:cNvSpPr/>
          <p:nvPr/>
        </p:nvSpPr>
        <p:spPr>
          <a:xfrm>
            <a:off x="4829175" y="3600785"/>
            <a:ext cx="5770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C44D58"/>
                </a:solidFill>
              </a:rPr>
              <a:t>•</a:t>
            </a:r>
            <a:endParaRPr lang="en-US" sz="900" dirty="0"/>
          </a:p>
        </p:txBody>
      </p:sp>
      <p:sp>
        <p:nvSpPr>
          <p:cNvPr id="40" name="Text 37"/>
          <p:cNvSpPr/>
          <p:nvPr/>
        </p:nvSpPr>
        <p:spPr>
          <a:xfrm>
            <a:off x="4972050" y="3606143"/>
            <a:ext cx="493725"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DISCOUNT</a:t>
            </a:r>
            <a:endParaRPr lang="en-US" sz="900" dirty="0"/>
          </a:p>
        </p:txBody>
      </p:sp>
      <p:sp>
        <p:nvSpPr>
          <p:cNvPr id="41" name="Text 38"/>
          <p:cNvSpPr/>
          <p:nvPr/>
        </p:nvSpPr>
        <p:spPr>
          <a:xfrm>
            <a:off x="4829175" y="3782950"/>
            <a:ext cx="5770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C44D58"/>
                </a:solidFill>
              </a:rPr>
              <a:t>•</a:t>
            </a:r>
            <a:endParaRPr lang="en-US" sz="900" dirty="0"/>
          </a:p>
        </p:txBody>
      </p:sp>
      <p:sp>
        <p:nvSpPr>
          <p:cNvPr id="42" name="Text 39"/>
          <p:cNvSpPr/>
          <p:nvPr/>
        </p:nvSpPr>
        <p:spPr>
          <a:xfrm>
            <a:off x="4972050" y="3788308"/>
            <a:ext cx="508152"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CATEGORY</a:t>
            </a:r>
            <a:endParaRPr lang="en-US" sz="900" dirty="0"/>
          </a:p>
        </p:txBody>
      </p:sp>
      <p:sp>
        <p:nvSpPr>
          <p:cNvPr id="43" name="Text 40"/>
          <p:cNvSpPr/>
          <p:nvPr/>
        </p:nvSpPr>
        <p:spPr>
          <a:xfrm>
            <a:off x="4829175" y="3965116"/>
            <a:ext cx="5770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C44D58"/>
                </a:solidFill>
              </a:rPr>
              <a:t>•</a:t>
            </a:r>
            <a:endParaRPr lang="en-US" sz="900" dirty="0"/>
          </a:p>
        </p:txBody>
      </p:sp>
      <p:sp>
        <p:nvSpPr>
          <p:cNvPr id="44" name="Text 41"/>
          <p:cNvSpPr/>
          <p:nvPr/>
        </p:nvSpPr>
        <p:spPr>
          <a:xfrm>
            <a:off x="4972050" y="3970474"/>
            <a:ext cx="121026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_INGESTION_TIMESTAMP</a:t>
            </a:r>
            <a:endParaRPr lang="en-US" sz="900" dirty="0"/>
          </a:p>
        </p:txBody>
      </p:sp>
      <p:sp>
        <p:nvSpPr>
          <p:cNvPr id="45" name="Text 42"/>
          <p:cNvSpPr/>
          <p:nvPr/>
        </p:nvSpPr>
        <p:spPr>
          <a:xfrm>
            <a:off x="4829175" y="4175857"/>
            <a:ext cx="614142" cy="91051"/>
          </a:xfrm>
          <a:prstGeom prst="rect">
            <a:avLst/>
          </a:prstGeom>
          <a:noFill/>
          <a:ln/>
        </p:spPr>
        <p:txBody>
          <a:bodyPr wrap="none" lIns="0" tIns="0" rIns="0" bIns="0" rtlCol="0" anchor="t">
            <a:spAutoFit/>
          </a:bodyPr>
          <a:lstStyle/>
          <a:p>
            <a:pPr marL="0" indent="0" algn="l">
              <a:lnSpc>
                <a:spcPts val="700"/>
              </a:lnSpc>
              <a:buNone/>
            </a:pPr>
            <a:r>
              <a:rPr lang="en-US" sz="700" b="1" kern="0" spc="1" dirty="0">
                <a:solidFill>
                  <a:srgbClr val="C44D58"/>
                </a:solidFill>
              </a:rPr>
              <a:t>Loading Method</a:t>
            </a:r>
            <a:endParaRPr lang="en-US" sz="700" dirty="0"/>
          </a:p>
        </p:txBody>
      </p:sp>
      <p:sp>
        <p:nvSpPr>
          <p:cNvPr id="46" name="Text 43"/>
          <p:cNvSpPr/>
          <p:nvPr/>
        </p:nvSpPr>
        <p:spPr>
          <a:xfrm>
            <a:off x="4829175" y="4325875"/>
            <a:ext cx="3016852"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1A1A1A"/>
                </a:solidFill>
              </a:rPr>
              <a:t>Snowflake COPY INTO command for efficient bulk data ingestion</a:t>
            </a:r>
            <a:endParaRPr lang="en-US" sz="900" dirty="0"/>
          </a:p>
        </p:txBody>
      </p:sp>
      <p:sp>
        <p:nvSpPr>
          <p:cNvPr id="47" name="Text 44"/>
          <p:cNvSpPr/>
          <p:nvPr/>
        </p:nvSpPr>
        <p:spPr>
          <a:xfrm>
            <a:off x="4829175" y="4536616"/>
            <a:ext cx="435953" cy="91051"/>
          </a:xfrm>
          <a:prstGeom prst="rect">
            <a:avLst/>
          </a:prstGeom>
          <a:noFill/>
          <a:ln/>
        </p:spPr>
        <p:txBody>
          <a:bodyPr wrap="none" lIns="0" tIns="0" rIns="0" bIns="0" rtlCol="0" anchor="t">
            <a:spAutoFit/>
          </a:bodyPr>
          <a:lstStyle/>
          <a:p>
            <a:pPr marL="0" indent="0" algn="l">
              <a:lnSpc>
                <a:spcPts val="700"/>
              </a:lnSpc>
              <a:buNone/>
            </a:pPr>
            <a:r>
              <a:rPr lang="en-US" sz="700" b="1" kern="0" spc="1" dirty="0">
                <a:solidFill>
                  <a:srgbClr val="C44D58"/>
                </a:solidFill>
              </a:rPr>
              <a:t>Verification</a:t>
            </a:r>
            <a:endParaRPr lang="en-US" sz="700" dirty="0"/>
          </a:p>
        </p:txBody>
      </p:sp>
      <p:sp>
        <p:nvSpPr>
          <p:cNvPr id="48" name="Text 45"/>
          <p:cNvSpPr/>
          <p:nvPr/>
        </p:nvSpPr>
        <p:spPr>
          <a:xfrm>
            <a:off x="4829175" y="4686635"/>
            <a:ext cx="2518318" cy="136256"/>
          </a:xfrm>
          <a:prstGeom prst="rect">
            <a:avLst/>
          </a:prstGeom>
          <a:noFill/>
          <a:ln/>
        </p:spPr>
        <p:txBody>
          <a:bodyPr wrap="none" lIns="0" tIns="0" rIns="0" bIns="0" rtlCol="0" anchor="t">
            <a:spAutoFit/>
          </a:bodyPr>
          <a:lstStyle/>
          <a:p>
            <a:pPr marL="0" indent="0" algn="l">
              <a:lnSpc>
                <a:spcPts val="1100"/>
              </a:lnSpc>
              <a:buNone/>
            </a:pPr>
            <a:r>
              <a:rPr lang="en-US" sz="900" dirty="0">
                <a:solidFill>
                  <a:srgbClr val="333333"/>
                </a:solidFill>
              </a:rPr>
              <a:t>Confirmed successful load with row count verification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8327" y="268606"/>
            <a:ext cx="9129935" cy="410433"/>
          </a:xfrm>
          <a:prstGeom prst="rect">
            <a:avLst/>
          </a:prstGeom>
          <a:noFill/>
          <a:ln/>
        </p:spPr>
        <p:txBody>
          <a:bodyPr wrap="none" lIns="0" tIns="0" rIns="0" bIns="0" rtlCol="0" anchor="t">
            <a:spAutoFit/>
          </a:bodyPr>
          <a:lstStyle/>
          <a:p>
            <a:pPr marL="0" indent="0" algn="l">
              <a:lnSpc>
                <a:spcPts val="3000"/>
              </a:lnSpc>
              <a:buNone/>
            </a:pPr>
            <a:r>
              <a:rPr lang="en-US" sz="3600" b="1" dirty="0">
                <a:solidFill>
                  <a:srgbClr val="1A1A1A"/>
                </a:solidFill>
              </a:rPr>
              <a:t>Silver Layer: Structured Data Warehouse Design</a:t>
            </a:r>
            <a:endParaRPr lang="en-US" sz="3600" dirty="0"/>
          </a:p>
        </p:txBody>
      </p:sp>
      <p:sp>
        <p:nvSpPr>
          <p:cNvPr id="4" name="Text 1"/>
          <p:cNvSpPr/>
          <p:nvPr/>
        </p:nvSpPr>
        <p:spPr>
          <a:xfrm>
            <a:off x="428625" y="748643"/>
            <a:ext cx="5729132" cy="170175"/>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666666"/>
                </a:solidFill>
              </a:rPr>
              <a:t>Transforming raw data into a structured Star Schema optimized for querying and analytical performance.</a:t>
            </a:r>
            <a:endParaRPr lang="en-US" sz="1050" dirty="0"/>
          </a:p>
        </p:txBody>
      </p:sp>
      <p:sp>
        <p:nvSpPr>
          <p:cNvPr id="5" name="Shape 2"/>
          <p:cNvSpPr/>
          <p:nvPr/>
        </p:nvSpPr>
        <p:spPr>
          <a:xfrm>
            <a:off x="1857375" y="1468459"/>
            <a:ext cx="1428750" cy="1125448"/>
          </a:xfrm>
          <a:prstGeom prst="rect">
            <a:avLst/>
          </a:prstGeom>
          <a:solidFill>
            <a:srgbClr val="FFFFFF"/>
          </a:solidFill>
          <a:ln w="18288">
            <a:solidFill>
              <a:srgbClr val="C44D58"/>
            </a:solidFill>
            <a:prstDash val="solid"/>
          </a:ln>
        </p:spPr>
        <p:txBody>
          <a:bodyPr/>
          <a:lstStyle/>
          <a:p>
            <a:endParaRPr lang="en-US" sz="3200"/>
          </a:p>
        </p:txBody>
      </p:sp>
      <p:sp>
        <p:nvSpPr>
          <p:cNvPr id="6" name="Text 3"/>
          <p:cNvSpPr/>
          <p:nvPr/>
        </p:nvSpPr>
        <p:spPr>
          <a:xfrm>
            <a:off x="2167634" y="1589903"/>
            <a:ext cx="808235" cy="97784"/>
          </a:xfrm>
          <a:prstGeom prst="rect">
            <a:avLst/>
          </a:prstGeom>
          <a:noFill/>
          <a:ln/>
        </p:spPr>
        <p:txBody>
          <a:bodyPr wrap="none" lIns="0" tIns="0" rIns="0" bIns="0" rtlCol="0" anchor="t">
            <a:spAutoFit/>
          </a:bodyPr>
          <a:lstStyle/>
          <a:p>
            <a:pPr marL="0" indent="0" algn="ctr">
              <a:lnSpc>
                <a:spcPts val="700"/>
              </a:lnSpc>
              <a:buNone/>
            </a:pPr>
            <a:r>
              <a:rPr lang="en-US" sz="900" b="1" kern="0" spc="1" dirty="0">
                <a:solidFill>
                  <a:srgbClr val="C44D58"/>
                </a:solidFill>
              </a:rPr>
              <a:t>Dimension Table</a:t>
            </a:r>
            <a:endParaRPr lang="en-US" sz="900" dirty="0"/>
          </a:p>
        </p:txBody>
      </p:sp>
      <p:sp>
        <p:nvSpPr>
          <p:cNvPr id="7" name="Text 4"/>
          <p:cNvSpPr/>
          <p:nvPr/>
        </p:nvSpPr>
        <p:spPr>
          <a:xfrm>
            <a:off x="2216107" y="1768497"/>
            <a:ext cx="711285" cy="141321"/>
          </a:xfrm>
          <a:prstGeom prst="rect">
            <a:avLst/>
          </a:prstGeom>
          <a:noFill/>
          <a:ln/>
        </p:spPr>
        <p:txBody>
          <a:bodyPr wrap="none" lIns="0" tIns="0" rIns="0" bIns="0" rtlCol="0" anchor="t">
            <a:spAutoFit/>
          </a:bodyPr>
          <a:lstStyle/>
          <a:p>
            <a:pPr marL="0" indent="0" algn="ctr">
              <a:lnSpc>
                <a:spcPts val="1100"/>
              </a:lnSpc>
              <a:buNone/>
            </a:pPr>
            <a:r>
              <a:rPr lang="en-US" sz="1050" b="1" kern="0" spc="1" dirty="0">
                <a:solidFill>
                  <a:srgbClr val="1A1A1A"/>
                </a:solidFill>
              </a:rPr>
              <a:t>DIM_BRAND</a:t>
            </a:r>
            <a:endParaRPr lang="en-US" sz="1050" dirty="0"/>
          </a:p>
        </p:txBody>
      </p:sp>
      <p:sp>
        <p:nvSpPr>
          <p:cNvPr id="8" name="Text 5"/>
          <p:cNvSpPr/>
          <p:nvPr/>
        </p:nvSpPr>
        <p:spPr>
          <a:xfrm>
            <a:off x="1964531" y="2009598"/>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9" name="Text 6"/>
          <p:cNvSpPr/>
          <p:nvPr/>
        </p:nvSpPr>
        <p:spPr>
          <a:xfrm>
            <a:off x="2071688" y="2027458"/>
            <a:ext cx="564257"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A1A1A"/>
                </a:solidFill>
              </a:rPr>
              <a:t>BRAND_ID</a:t>
            </a:r>
            <a:endParaRPr lang="en-US" sz="1000" dirty="0"/>
          </a:p>
        </p:txBody>
      </p:sp>
      <p:sp>
        <p:nvSpPr>
          <p:cNvPr id="10" name="Text 7"/>
          <p:cNvSpPr/>
          <p:nvPr/>
        </p:nvSpPr>
        <p:spPr>
          <a:xfrm>
            <a:off x="2510191" y="2027458"/>
            <a:ext cx="209994"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(PK)</a:t>
            </a:r>
            <a:endParaRPr lang="en-US" sz="1000" dirty="0"/>
          </a:p>
        </p:txBody>
      </p:sp>
      <p:sp>
        <p:nvSpPr>
          <p:cNvPr id="11" name="Text 8"/>
          <p:cNvSpPr/>
          <p:nvPr/>
        </p:nvSpPr>
        <p:spPr>
          <a:xfrm>
            <a:off x="1964531" y="2163887"/>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12" name="Text 9"/>
          <p:cNvSpPr/>
          <p:nvPr/>
        </p:nvSpPr>
        <p:spPr>
          <a:xfrm>
            <a:off x="2071688" y="2181746"/>
            <a:ext cx="767839"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BRAND_NAME</a:t>
            </a:r>
            <a:endParaRPr lang="en-US" sz="1000" dirty="0"/>
          </a:p>
        </p:txBody>
      </p:sp>
      <p:sp>
        <p:nvSpPr>
          <p:cNvPr id="13" name="Text 10"/>
          <p:cNvSpPr/>
          <p:nvPr/>
        </p:nvSpPr>
        <p:spPr>
          <a:xfrm>
            <a:off x="1964531" y="2318175"/>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14" name="Text 11"/>
          <p:cNvSpPr/>
          <p:nvPr/>
        </p:nvSpPr>
        <p:spPr>
          <a:xfrm>
            <a:off x="2071688" y="2336034"/>
            <a:ext cx="45365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(Unique)</a:t>
            </a:r>
            <a:endParaRPr lang="en-US" sz="1000" dirty="0"/>
          </a:p>
        </p:txBody>
      </p:sp>
      <p:sp>
        <p:nvSpPr>
          <p:cNvPr id="15" name="Shape 12"/>
          <p:cNvSpPr/>
          <p:nvPr/>
        </p:nvSpPr>
        <p:spPr>
          <a:xfrm>
            <a:off x="1857375" y="2793932"/>
            <a:ext cx="1428750" cy="1125448"/>
          </a:xfrm>
          <a:prstGeom prst="rect">
            <a:avLst/>
          </a:prstGeom>
          <a:solidFill>
            <a:srgbClr val="FFFFFF"/>
          </a:solidFill>
          <a:ln w="18288">
            <a:solidFill>
              <a:srgbClr val="C44D58"/>
            </a:solidFill>
            <a:prstDash val="solid"/>
          </a:ln>
        </p:spPr>
        <p:txBody>
          <a:bodyPr/>
          <a:lstStyle/>
          <a:p>
            <a:endParaRPr lang="en-US" sz="3200"/>
          </a:p>
        </p:txBody>
      </p:sp>
      <p:sp>
        <p:nvSpPr>
          <p:cNvPr id="16" name="Text 13"/>
          <p:cNvSpPr/>
          <p:nvPr/>
        </p:nvSpPr>
        <p:spPr>
          <a:xfrm>
            <a:off x="2167634" y="2915376"/>
            <a:ext cx="808235" cy="97784"/>
          </a:xfrm>
          <a:prstGeom prst="rect">
            <a:avLst/>
          </a:prstGeom>
          <a:noFill/>
          <a:ln/>
        </p:spPr>
        <p:txBody>
          <a:bodyPr wrap="none" lIns="0" tIns="0" rIns="0" bIns="0" rtlCol="0" anchor="t">
            <a:spAutoFit/>
          </a:bodyPr>
          <a:lstStyle/>
          <a:p>
            <a:pPr marL="0" indent="0" algn="ctr">
              <a:lnSpc>
                <a:spcPts val="700"/>
              </a:lnSpc>
              <a:buNone/>
            </a:pPr>
            <a:r>
              <a:rPr lang="en-US" sz="900" b="1" kern="0" spc="1" dirty="0">
                <a:solidFill>
                  <a:srgbClr val="C44D58"/>
                </a:solidFill>
              </a:rPr>
              <a:t>Dimension Table</a:t>
            </a:r>
            <a:endParaRPr lang="en-US" sz="900" dirty="0"/>
          </a:p>
        </p:txBody>
      </p:sp>
      <p:sp>
        <p:nvSpPr>
          <p:cNvPr id="17" name="Text 14"/>
          <p:cNvSpPr/>
          <p:nvPr/>
        </p:nvSpPr>
        <p:spPr>
          <a:xfrm>
            <a:off x="2114124" y="3093969"/>
            <a:ext cx="915252" cy="141321"/>
          </a:xfrm>
          <a:prstGeom prst="rect">
            <a:avLst/>
          </a:prstGeom>
          <a:noFill/>
          <a:ln/>
        </p:spPr>
        <p:txBody>
          <a:bodyPr wrap="none" lIns="0" tIns="0" rIns="0" bIns="0" rtlCol="0" anchor="t">
            <a:spAutoFit/>
          </a:bodyPr>
          <a:lstStyle/>
          <a:p>
            <a:pPr marL="0" indent="0" algn="ctr">
              <a:lnSpc>
                <a:spcPts val="1100"/>
              </a:lnSpc>
              <a:buNone/>
            </a:pPr>
            <a:r>
              <a:rPr lang="en-US" sz="1050" b="1" kern="0" spc="1" dirty="0">
                <a:solidFill>
                  <a:srgbClr val="1A1A1A"/>
                </a:solidFill>
              </a:rPr>
              <a:t>DIM_CATEGORY</a:t>
            </a:r>
            <a:endParaRPr lang="en-US" sz="1050" dirty="0"/>
          </a:p>
        </p:txBody>
      </p:sp>
      <p:sp>
        <p:nvSpPr>
          <p:cNvPr id="18" name="Text 15"/>
          <p:cNvSpPr/>
          <p:nvPr/>
        </p:nvSpPr>
        <p:spPr>
          <a:xfrm>
            <a:off x="1964531" y="3335071"/>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19" name="Text 16"/>
          <p:cNvSpPr/>
          <p:nvPr/>
        </p:nvSpPr>
        <p:spPr>
          <a:xfrm>
            <a:off x="2071688" y="3352930"/>
            <a:ext cx="756617"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A1A1A"/>
                </a:solidFill>
              </a:rPr>
              <a:t>CATEGORY_ID</a:t>
            </a:r>
            <a:endParaRPr lang="en-US" sz="1000" dirty="0"/>
          </a:p>
        </p:txBody>
      </p:sp>
      <p:sp>
        <p:nvSpPr>
          <p:cNvPr id="20" name="Text 17"/>
          <p:cNvSpPr/>
          <p:nvPr/>
        </p:nvSpPr>
        <p:spPr>
          <a:xfrm>
            <a:off x="2649494" y="3352930"/>
            <a:ext cx="209994"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(PK)</a:t>
            </a:r>
            <a:endParaRPr lang="en-US" sz="1000" dirty="0"/>
          </a:p>
        </p:txBody>
      </p:sp>
      <p:sp>
        <p:nvSpPr>
          <p:cNvPr id="21" name="Text 18"/>
          <p:cNvSpPr/>
          <p:nvPr/>
        </p:nvSpPr>
        <p:spPr>
          <a:xfrm>
            <a:off x="1964531" y="3489359"/>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22" name="Text 19"/>
          <p:cNvSpPr/>
          <p:nvPr/>
        </p:nvSpPr>
        <p:spPr>
          <a:xfrm>
            <a:off x="2071688" y="3507218"/>
            <a:ext cx="956993"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CATEGORY_NAME</a:t>
            </a:r>
            <a:endParaRPr lang="en-US" sz="1000" dirty="0"/>
          </a:p>
        </p:txBody>
      </p:sp>
      <p:sp>
        <p:nvSpPr>
          <p:cNvPr id="23" name="Text 20"/>
          <p:cNvSpPr/>
          <p:nvPr/>
        </p:nvSpPr>
        <p:spPr>
          <a:xfrm>
            <a:off x="1964531" y="3643647"/>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24" name="Text 21"/>
          <p:cNvSpPr/>
          <p:nvPr/>
        </p:nvSpPr>
        <p:spPr>
          <a:xfrm>
            <a:off x="2071688" y="3661507"/>
            <a:ext cx="45365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(Unique)</a:t>
            </a:r>
            <a:endParaRPr lang="en-US" sz="1000" dirty="0"/>
          </a:p>
        </p:txBody>
      </p:sp>
      <p:sp>
        <p:nvSpPr>
          <p:cNvPr id="25" name="Shape 22"/>
          <p:cNvSpPr/>
          <p:nvPr/>
        </p:nvSpPr>
        <p:spPr>
          <a:xfrm>
            <a:off x="3571875" y="1864044"/>
            <a:ext cx="2000250" cy="1674037"/>
          </a:xfrm>
          <a:prstGeom prst="rect">
            <a:avLst/>
          </a:prstGeom>
          <a:solidFill>
            <a:srgbClr val="FFF9F7"/>
          </a:solidFill>
          <a:ln w="18288">
            <a:solidFill>
              <a:srgbClr val="1A1A1A"/>
            </a:solidFill>
            <a:prstDash val="solid"/>
          </a:ln>
        </p:spPr>
        <p:txBody>
          <a:bodyPr/>
          <a:lstStyle/>
          <a:p>
            <a:endParaRPr lang="en-US" sz="3200"/>
          </a:p>
        </p:txBody>
      </p:sp>
      <p:sp>
        <p:nvSpPr>
          <p:cNvPr id="26" name="Text 23"/>
          <p:cNvSpPr/>
          <p:nvPr/>
        </p:nvSpPr>
        <p:spPr>
          <a:xfrm>
            <a:off x="4326901" y="2028351"/>
            <a:ext cx="490199" cy="97784"/>
          </a:xfrm>
          <a:prstGeom prst="rect">
            <a:avLst/>
          </a:prstGeom>
          <a:noFill/>
          <a:ln/>
        </p:spPr>
        <p:txBody>
          <a:bodyPr wrap="none" lIns="0" tIns="0" rIns="0" bIns="0" rtlCol="0" anchor="t">
            <a:spAutoFit/>
          </a:bodyPr>
          <a:lstStyle/>
          <a:p>
            <a:pPr marL="0" indent="0" algn="ctr">
              <a:lnSpc>
                <a:spcPts val="700"/>
              </a:lnSpc>
              <a:buNone/>
            </a:pPr>
            <a:r>
              <a:rPr lang="en-US" sz="900" b="1" kern="0" spc="1" dirty="0">
                <a:solidFill>
                  <a:srgbClr val="C44D58"/>
                </a:solidFill>
              </a:rPr>
              <a:t>Fact Table</a:t>
            </a:r>
            <a:endParaRPr lang="en-US" sz="900" dirty="0"/>
          </a:p>
        </p:txBody>
      </p:sp>
      <p:sp>
        <p:nvSpPr>
          <p:cNvPr id="27" name="Text 24"/>
          <p:cNvSpPr/>
          <p:nvPr/>
        </p:nvSpPr>
        <p:spPr>
          <a:xfrm>
            <a:off x="4142427" y="2206944"/>
            <a:ext cx="859146" cy="141321"/>
          </a:xfrm>
          <a:prstGeom prst="rect">
            <a:avLst/>
          </a:prstGeom>
          <a:noFill/>
          <a:ln/>
        </p:spPr>
        <p:txBody>
          <a:bodyPr wrap="none" lIns="0" tIns="0" rIns="0" bIns="0" rtlCol="0" anchor="t">
            <a:spAutoFit/>
          </a:bodyPr>
          <a:lstStyle/>
          <a:p>
            <a:pPr marL="0" indent="0" algn="ctr">
              <a:lnSpc>
                <a:spcPts val="1100"/>
              </a:lnSpc>
              <a:buNone/>
            </a:pPr>
            <a:r>
              <a:rPr lang="en-US" sz="1050" b="1" kern="0" spc="1" dirty="0">
                <a:solidFill>
                  <a:srgbClr val="1A1A1A"/>
                </a:solidFill>
              </a:rPr>
              <a:t>FACT_FASHION</a:t>
            </a:r>
            <a:endParaRPr lang="en-US" sz="1050" dirty="0"/>
          </a:p>
        </p:txBody>
      </p:sp>
      <p:sp>
        <p:nvSpPr>
          <p:cNvPr id="28" name="Text 25"/>
          <p:cNvSpPr/>
          <p:nvPr/>
        </p:nvSpPr>
        <p:spPr>
          <a:xfrm>
            <a:off x="3714750" y="2448046"/>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29" name="Text 26"/>
          <p:cNvSpPr/>
          <p:nvPr/>
        </p:nvSpPr>
        <p:spPr>
          <a:xfrm>
            <a:off x="3821906" y="2465905"/>
            <a:ext cx="787075"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A1A1A"/>
                </a:solidFill>
              </a:rPr>
              <a:t>PRODUCT_KEY</a:t>
            </a:r>
            <a:endParaRPr lang="en-US" sz="1000" dirty="0"/>
          </a:p>
        </p:txBody>
      </p:sp>
      <p:sp>
        <p:nvSpPr>
          <p:cNvPr id="30" name="Text 27"/>
          <p:cNvSpPr/>
          <p:nvPr/>
        </p:nvSpPr>
        <p:spPr>
          <a:xfrm>
            <a:off x="3714750" y="2602334"/>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31" name="Text 28"/>
          <p:cNvSpPr/>
          <p:nvPr/>
        </p:nvSpPr>
        <p:spPr>
          <a:xfrm>
            <a:off x="3821906" y="2620194"/>
            <a:ext cx="564257"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C44D58"/>
                </a:solidFill>
              </a:rPr>
              <a:t>BRAND_ID</a:t>
            </a:r>
            <a:endParaRPr lang="en-US" sz="1000" dirty="0"/>
          </a:p>
        </p:txBody>
      </p:sp>
      <p:sp>
        <p:nvSpPr>
          <p:cNvPr id="32" name="Text 29"/>
          <p:cNvSpPr/>
          <p:nvPr/>
        </p:nvSpPr>
        <p:spPr>
          <a:xfrm>
            <a:off x="4260410" y="2620194"/>
            <a:ext cx="203582"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(FK)</a:t>
            </a:r>
            <a:endParaRPr lang="en-US" sz="1000" dirty="0"/>
          </a:p>
        </p:txBody>
      </p:sp>
      <p:sp>
        <p:nvSpPr>
          <p:cNvPr id="33" name="Text 30"/>
          <p:cNvSpPr/>
          <p:nvPr/>
        </p:nvSpPr>
        <p:spPr>
          <a:xfrm>
            <a:off x="3714750" y="2756622"/>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34" name="Text 31"/>
          <p:cNvSpPr/>
          <p:nvPr/>
        </p:nvSpPr>
        <p:spPr>
          <a:xfrm>
            <a:off x="3821906" y="2774482"/>
            <a:ext cx="756617"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C44D58"/>
                </a:solidFill>
              </a:rPr>
              <a:t>CATEGORY_ID</a:t>
            </a:r>
            <a:endParaRPr lang="en-US" sz="1000" dirty="0"/>
          </a:p>
        </p:txBody>
      </p:sp>
      <p:sp>
        <p:nvSpPr>
          <p:cNvPr id="35" name="Text 32"/>
          <p:cNvSpPr/>
          <p:nvPr/>
        </p:nvSpPr>
        <p:spPr>
          <a:xfrm>
            <a:off x="4399713" y="2774482"/>
            <a:ext cx="203582"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(FK)</a:t>
            </a:r>
            <a:endParaRPr lang="en-US" sz="1000" dirty="0"/>
          </a:p>
        </p:txBody>
      </p:sp>
      <p:sp>
        <p:nvSpPr>
          <p:cNvPr id="36" name="Text 33"/>
          <p:cNvSpPr/>
          <p:nvPr/>
        </p:nvSpPr>
        <p:spPr>
          <a:xfrm>
            <a:off x="3714750" y="2910911"/>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37" name="Text 34"/>
          <p:cNvSpPr/>
          <p:nvPr/>
        </p:nvSpPr>
        <p:spPr>
          <a:xfrm>
            <a:off x="3821906" y="2928770"/>
            <a:ext cx="684483"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MRP (FLOAT)</a:t>
            </a:r>
            <a:endParaRPr lang="en-US" sz="1000" dirty="0"/>
          </a:p>
        </p:txBody>
      </p:sp>
      <p:sp>
        <p:nvSpPr>
          <p:cNvPr id="38" name="Text 35"/>
          <p:cNvSpPr/>
          <p:nvPr/>
        </p:nvSpPr>
        <p:spPr>
          <a:xfrm>
            <a:off x="3714750" y="3065199"/>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39" name="Text 36"/>
          <p:cNvSpPr/>
          <p:nvPr/>
        </p:nvSpPr>
        <p:spPr>
          <a:xfrm>
            <a:off x="3821906" y="3083058"/>
            <a:ext cx="1033937"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SELL_PRICE (FLOAT)</a:t>
            </a:r>
            <a:endParaRPr lang="en-US" sz="1000" dirty="0"/>
          </a:p>
        </p:txBody>
      </p:sp>
      <p:sp>
        <p:nvSpPr>
          <p:cNvPr id="40" name="Text 37"/>
          <p:cNvSpPr/>
          <p:nvPr/>
        </p:nvSpPr>
        <p:spPr>
          <a:xfrm>
            <a:off x="3714750" y="3219487"/>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41" name="Text 38"/>
          <p:cNvSpPr/>
          <p:nvPr/>
        </p:nvSpPr>
        <p:spPr>
          <a:xfrm>
            <a:off x="3821906" y="3237347"/>
            <a:ext cx="1090042"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DISCOUNT_PERCENT</a:t>
            </a:r>
            <a:endParaRPr lang="en-US" sz="1000" dirty="0"/>
          </a:p>
        </p:txBody>
      </p:sp>
      <p:sp>
        <p:nvSpPr>
          <p:cNvPr id="42" name="Shape 39"/>
          <p:cNvSpPr/>
          <p:nvPr/>
        </p:nvSpPr>
        <p:spPr>
          <a:xfrm>
            <a:off x="5857875" y="2453543"/>
            <a:ext cx="1428750" cy="1280824"/>
          </a:xfrm>
          <a:prstGeom prst="rect">
            <a:avLst/>
          </a:prstGeom>
          <a:solidFill>
            <a:srgbClr val="FFFFFF"/>
          </a:solidFill>
          <a:ln w="18288">
            <a:solidFill>
              <a:srgbClr val="C44D58"/>
            </a:solidFill>
            <a:prstDash val="solid"/>
          </a:ln>
        </p:spPr>
        <p:txBody>
          <a:bodyPr/>
          <a:lstStyle/>
          <a:p>
            <a:endParaRPr lang="en-US" sz="3200"/>
          </a:p>
        </p:txBody>
      </p:sp>
      <p:sp>
        <p:nvSpPr>
          <p:cNvPr id="43" name="Text 40"/>
          <p:cNvSpPr/>
          <p:nvPr/>
        </p:nvSpPr>
        <p:spPr>
          <a:xfrm>
            <a:off x="6168134" y="2574987"/>
            <a:ext cx="808235" cy="97784"/>
          </a:xfrm>
          <a:prstGeom prst="rect">
            <a:avLst/>
          </a:prstGeom>
          <a:noFill/>
          <a:ln/>
        </p:spPr>
        <p:txBody>
          <a:bodyPr wrap="none" lIns="0" tIns="0" rIns="0" bIns="0" rtlCol="0" anchor="t">
            <a:spAutoFit/>
          </a:bodyPr>
          <a:lstStyle/>
          <a:p>
            <a:pPr marL="0" indent="0" algn="ctr">
              <a:lnSpc>
                <a:spcPts val="700"/>
              </a:lnSpc>
              <a:buNone/>
            </a:pPr>
            <a:r>
              <a:rPr lang="en-US" sz="900" b="1" kern="0" spc="1" dirty="0">
                <a:solidFill>
                  <a:srgbClr val="C44D58"/>
                </a:solidFill>
              </a:rPr>
              <a:t>Dimension Table</a:t>
            </a:r>
            <a:endParaRPr lang="en-US" sz="900" dirty="0"/>
          </a:p>
        </p:txBody>
      </p:sp>
      <p:sp>
        <p:nvSpPr>
          <p:cNvPr id="44" name="Text 41"/>
          <p:cNvSpPr/>
          <p:nvPr/>
        </p:nvSpPr>
        <p:spPr>
          <a:xfrm>
            <a:off x="5965031" y="2753581"/>
            <a:ext cx="1214438" cy="141064"/>
          </a:xfrm>
          <a:prstGeom prst="rect">
            <a:avLst/>
          </a:prstGeom>
          <a:noFill/>
          <a:ln/>
        </p:spPr>
        <p:txBody>
          <a:bodyPr wrap="square" lIns="0" tIns="0" rIns="0" bIns="0" rtlCol="0" anchor="t">
            <a:spAutoFit/>
          </a:bodyPr>
          <a:lstStyle/>
          <a:p>
            <a:pPr marL="0" indent="0" algn="ctr">
              <a:lnSpc>
                <a:spcPts val="1100"/>
              </a:lnSpc>
              <a:buNone/>
            </a:pPr>
            <a:r>
              <a:rPr lang="en-US" sz="1050" b="1" kern="0" spc="1" dirty="0">
                <a:solidFill>
                  <a:srgbClr val="1A1A1A"/>
                </a:solidFill>
              </a:rPr>
              <a:t>Additional Attributes</a:t>
            </a:r>
            <a:endParaRPr lang="en-US" sz="1050" dirty="0"/>
          </a:p>
        </p:txBody>
      </p:sp>
      <p:sp>
        <p:nvSpPr>
          <p:cNvPr id="45" name="Text 42"/>
          <p:cNvSpPr/>
          <p:nvPr/>
        </p:nvSpPr>
        <p:spPr>
          <a:xfrm>
            <a:off x="5965031" y="3150059"/>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46" name="Text 43"/>
          <p:cNvSpPr/>
          <p:nvPr/>
        </p:nvSpPr>
        <p:spPr>
          <a:xfrm>
            <a:off x="6072188" y="3167918"/>
            <a:ext cx="793487"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Product Details</a:t>
            </a:r>
            <a:endParaRPr lang="en-US" sz="1000" dirty="0"/>
          </a:p>
        </p:txBody>
      </p:sp>
      <p:sp>
        <p:nvSpPr>
          <p:cNvPr id="47" name="Text 44"/>
          <p:cNvSpPr/>
          <p:nvPr/>
        </p:nvSpPr>
        <p:spPr>
          <a:xfrm>
            <a:off x="5965031" y="3304347"/>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48" name="Text 45"/>
          <p:cNvSpPr/>
          <p:nvPr/>
        </p:nvSpPr>
        <p:spPr>
          <a:xfrm>
            <a:off x="6072188" y="3322207"/>
            <a:ext cx="753411"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Available Sizes</a:t>
            </a:r>
            <a:endParaRPr lang="en-US" sz="1000" dirty="0"/>
          </a:p>
        </p:txBody>
      </p:sp>
      <p:sp>
        <p:nvSpPr>
          <p:cNvPr id="49" name="Text 46"/>
          <p:cNvSpPr/>
          <p:nvPr/>
        </p:nvSpPr>
        <p:spPr>
          <a:xfrm>
            <a:off x="5965031" y="3458635"/>
            <a:ext cx="64120"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C44D58"/>
                </a:solidFill>
              </a:rPr>
              <a:t>•</a:t>
            </a:r>
            <a:endParaRPr lang="en-US" sz="1000" dirty="0"/>
          </a:p>
        </p:txBody>
      </p:sp>
      <p:sp>
        <p:nvSpPr>
          <p:cNvPr id="50" name="Text 47"/>
          <p:cNvSpPr/>
          <p:nvPr/>
        </p:nvSpPr>
        <p:spPr>
          <a:xfrm>
            <a:off x="6072188" y="3476495"/>
            <a:ext cx="585097"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Pricing Info</a:t>
            </a:r>
            <a:endParaRPr lang="en-US" sz="1000" dirty="0"/>
          </a:p>
        </p:txBody>
      </p:sp>
      <p:sp>
        <p:nvSpPr>
          <p:cNvPr id="51" name="Shape 48"/>
          <p:cNvSpPr/>
          <p:nvPr/>
        </p:nvSpPr>
        <p:spPr>
          <a:xfrm>
            <a:off x="0" y="4482033"/>
            <a:ext cx="9144000" cy="661467"/>
          </a:xfrm>
          <a:prstGeom prst="rect">
            <a:avLst/>
          </a:prstGeom>
          <a:solidFill>
            <a:srgbClr val="000000">
              <a:alpha val="0"/>
            </a:srgbClr>
          </a:solidFill>
          <a:ln/>
        </p:spPr>
        <p:txBody>
          <a:bodyPr/>
          <a:lstStyle/>
          <a:p>
            <a:endParaRPr lang="en-US" sz="3200"/>
          </a:p>
        </p:txBody>
      </p:sp>
      <p:sp>
        <p:nvSpPr>
          <p:cNvPr id="52" name="Shape 49"/>
          <p:cNvSpPr/>
          <p:nvPr/>
        </p:nvSpPr>
        <p:spPr>
          <a:xfrm>
            <a:off x="0" y="4482033"/>
            <a:ext cx="9144000" cy="14288"/>
          </a:xfrm>
          <a:prstGeom prst="rect">
            <a:avLst/>
          </a:prstGeom>
          <a:solidFill>
            <a:srgbClr val="1A1A1A"/>
          </a:solidFill>
          <a:ln/>
        </p:spPr>
        <p:txBody>
          <a:bodyPr/>
          <a:lstStyle/>
          <a:p>
            <a:endParaRPr lang="en-US" sz="3200"/>
          </a:p>
        </p:txBody>
      </p:sp>
      <p:sp>
        <p:nvSpPr>
          <p:cNvPr id="53" name="Text 50"/>
          <p:cNvSpPr/>
          <p:nvPr/>
        </p:nvSpPr>
        <p:spPr>
          <a:xfrm>
            <a:off x="428625" y="4639196"/>
            <a:ext cx="1166217" cy="122085"/>
          </a:xfrm>
          <a:prstGeom prst="rect">
            <a:avLst/>
          </a:prstGeom>
          <a:noFill/>
          <a:ln/>
        </p:spPr>
        <p:txBody>
          <a:bodyPr wrap="none" lIns="0" tIns="0" rIns="0" bIns="0" rtlCol="0" anchor="t">
            <a:spAutoFit/>
          </a:bodyPr>
          <a:lstStyle/>
          <a:p>
            <a:pPr marL="0" indent="0" algn="l">
              <a:lnSpc>
                <a:spcPts val="900"/>
              </a:lnSpc>
              <a:buNone/>
            </a:pPr>
            <a:r>
              <a:rPr lang="en-US" sz="1050" b="1" kern="0" spc="1" dirty="0">
                <a:solidFill>
                  <a:srgbClr val="C44D58"/>
                </a:solidFill>
              </a:rPr>
              <a:t>Data Transformation</a:t>
            </a:r>
            <a:endParaRPr lang="en-US" sz="1050" dirty="0"/>
          </a:p>
        </p:txBody>
      </p:sp>
      <p:sp>
        <p:nvSpPr>
          <p:cNvPr id="54" name="Text 51"/>
          <p:cNvSpPr/>
          <p:nvPr/>
        </p:nvSpPr>
        <p:spPr>
          <a:xfrm>
            <a:off x="428625" y="4846365"/>
            <a:ext cx="4000500" cy="307777"/>
          </a:xfrm>
          <a:prstGeom prst="rect">
            <a:avLst/>
          </a:prstGeom>
          <a:noFill/>
          <a:ln/>
        </p:spPr>
        <p:txBody>
          <a:bodyPr wrap="square" lIns="0" tIns="0" rIns="0" bIns="0" rtlCol="0" anchor="t">
            <a:spAutoFit/>
          </a:bodyPr>
          <a:lstStyle/>
          <a:p>
            <a:pPr marL="0" indent="0" algn="l">
              <a:lnSpc>
                <a:spcPts val="1200"/>
              </a:lnSpc>
              <a:buNone/>
            </a:pPr>
            <a:r>
              <a:rPr lang="en-US" sz="1050" dirty="0">
                <a:solidFill>
                  <a:srgbClr val="333333"/>
                </a:solidFill>
              </a:rPr>
              <a:t>Price columns cleaned using REGEXP_REPLACE and cast to FLOAT for numerical analysis and aggregation.</a:t>
            </a:r>
            <a:endParaRPr lang="en-US" sz="1050" dirty="0"/>
          </a:p>
        </p:txBody>
      </p:sp>
      <p:sp>
        <p:nvSpPr>
          <p:cNvPr id="55" name="Text 52"/>
          <p:cNvSpPr/>
          <p:nvPr/>
        </p:nvSpPr>
        <p:spPr>
          <a:xfrm>
            <a:off x="4714875" y="4639196"/>
            <a:ext cx="1131207" cy="122085"/>
          </a:xfrm>
          <a:prstGeom prst="rect">
            <a:avLst/>
          </a:prstGeom>
          <a:noFill/>
          <a:ln/>
        </p:spPr>
        <p:txBody>
          <a:bodyPr wrap="none" lIns="0" tIns="0" rIns="0" bIns="0" rtlCol="0" anchor="t">
            <a:spAutoFit/>
          </a:bodyPr>
          <a:lstStyle/>
          <a:p>
            <a:pPr marL="0" indent="0" algn="l">
              <a:lnSpc>
                <a:spcPts val="900"/>
              </a:lnSpc>
              <a:buNone/>
            </a:pPr>
            <a:r>
              <a:rPr lang="en-US" sz="1050" b="1" kern="0" spc="1" dirty="0">
                <a:solidFill>
                  <a:srgbClr val="C44D58"/>
                </a:solidFill>
              </a:rPr>
              <a:t>Referential Integrity</a:t>
            </a:r>
            <a:endParaRPr lang="en-US" sz="1050" dirty="0"/>
          </a:p>
        </p:txBody>
      </p:sp>
      <p:sp>
        <p:nvSpPr>
          <p:cNvPr id="56" name="Text 53"/>
          <p:cNvSpPr/>
          <p:nvPr/>
        </p:nvSpPr>
        <p:spPr>
          <a:xfrm>
            <a:off x="4714875" y="4846365"/>
            <a:ext cx="4000500" cy="307777"/>
          </a:xfrm>
          <a:prstGeom prst="rect">
            <a:avLst/>
          </a:prstGeom>
          <a:noFill/>
          <a:ln/>
        </p:spPr>
        <p:txBody>
          <a:bodyPr wrap="square" lIns="0" tIns="0" rIns="0" bIns="0" rtlCol="0" anchor="t">
            <a:spAutoFit/>
          </a:bodyPr>
          <a:lstStyle/>
          <a:p>
            <a:pPr marL="0" indent="0" algn="l">
              <a:lnSpc>
                <a:spcPts val="1200"/>
              </a:lnSpc>
              <a:buNone/>
            </a:pPr>
            <a:r>
              <a:rPr lang="en-US" sz="1050" dirty="0">
                <a:solidFill>
                  <a:srgbClr val="333333"/>
                </a:solidFill>
              </a:rPr>
              <a:t>Foreign key constraints enforce data consistency across Fact and Dimension tables, ensuring reliable relationships.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428625"/>
            <a:ext cx="3571875" cy="714298"/>
          </a:xfrm>
          <a:prstGeom prst="rect">
            <a:avLst/>
          </a:prstGeom>
          <a:noFill/>
          <a:ln/>
        </p:spPr>
        <p:txBody>
          <a:bodyPr wrap="square" lIns="0" tIns="0" rIns="0" bIns="0" rtlCol="0" anchor="t">
            <a:spAutoFit/>
          </a:bodyPr>
          <a:lstStyle/>
          <a:p>
            <a:pPr marL="0" indent="0" algn="l">
              <a:lnSpc>
                <a:spcPts val="2700"/>
              </a:lnSpc>
              <a:buNone/>
            </a:pPr>
            <a:r>
              <a:rPr lang="en-US" sz="3200" b="1" dirty="0">
                <a:solidFill>
                  <a:srgbClr val="1A1A1A"/>
                </a:solidFill>
              </a:rPr>
              <a:t>Gold Layer: Business Reporting Focus</a:t>
            </a:r>
            <a:endParaRPr lang="en-US" sz="3200" dirty="0"/>
          </a:p>
        </p:txBody>
      </p:sp>
      <p:sp>
        <p:nvSpPr>
          <p:cNvPr id="4" name="Text 1"/>
          <p:cNvSpPr/>
          <p:nvPr/>
        </p:nvSpPr>
        <p:spPr>
          <a:xfrm>
            <a:off x="428625" y="1507331"/>
            <a:ext cx="437812" cy="141064"/>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C44D58"/>
                </a:solidFill>
              </a:rPr>
              <a:t>Purpose</a:t>
            </a:r>
            <a:endParaRPr lang="en-US" sz="1000" dirty="0"/>
          </a:p>
        </p:txBody>
      </p:sp>
      <p:sp>
        <p:nvSpPr>
          <p:cNvPr id="5" name="Text 2"/>
          <p:cNvSpPr/>
          <p:nvPr/>
        </p:nvSpPr>
        <p:spPr>
          <a:xfrm>
            <a:off x="428625" y="1769864"/>
            <a:ext cx="3571875" cy="562846"/>
          </a:xfrm>
          <a:prstGeom prst="rect">
            <a:avLst/>
          </a:prstGeom>
          <a:noFill/>
          <a:ln/>
        </p:spPr>
        <p:txBody>
          <a:bodyPr wrap="square" lIns="0" tIns="0" rIns="0" bIns="0" rtlCol="0" anchor="t">
            <a:spAutoFit/>
          </a:bodyPr>
          <a:lstStyle/>
          <a:p>
            <a:pPr marL="0" indent="0" algn="l">
              <a:lnSpc>
                <a:spcPts val="1500"/>
              </a:lnSpc>
              <a:buNone/>
            </a:pPr>
            <a:r>
              <a:rPr lang="en-US" sz="1000" dirty="0">
                <a:solidFill>
                  <a:srgbClr val="333333"/>
                </a:solidFill>
              </a:rPr>
              <a:t>The Gold layer is where data is pre-calculated and summarized to directly answer key business questions. It contains highly aggregated, business-specific tables tailored to specific use cases.</a:t>
            </a:r>
            <a:endParaRPr lang="en-US" sz="1000" dirty="0"/>
          </a:p>
        </p:txBody>
      </p:sp>
      <p:sp>
        <p:nvSpPr>
          <p:cNvPr id="6" name="Text 3"/>
          <p:cNvSpPr/>
          <p:nvPr/>
        </p:nvSpPr>
        <p:spPr>
          <a:xfrm>
            <a:off x="428625" y="2669977"/>
            <a:ext cx="1380443" cy="141064"/>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C44D58"/>
                </a:solidFill>
              </a:rPr>
              <a:t>Gold Layer Characteristics</a:t>
            </a:r>
            <a:endParaRPr lang="en-US" sz="1000" dirty="0"/>
          </a:p>
        </p:txBody>
      </p:sp>
      <p:sp>
        <p:nvSpPr>
          <p:cNvPr id="7" name="Text 4"/>
          <p:cNvSpPr/>
          <p:nvPr/>
        </p:nvSpPr>
        <p:spPr>
          <a:xfrm>
            <a:off x="428625" y="2932509"/>
            <a:ext cx="3571875" cy="370486"/>
          </a:xfrm>
          <a:prstGeom prst="rect">
            <a:avLst/>
          </a:prstGeom>
          <a:noFill/>
          <a:ln/>
        </p:spPr>
        <p:txBody>
          <a:bodyPr wrap="square" lIns="0" tIns="0" rIns="0" bIns="0" rtlCol="0" anchor="t">
            <a:spAutoFit/>
          </a:bodyPr>
          <a:lstStyle/>
          <a:p>
            <a:pPr marL="0" indent="0" algn="l">
              <a:lnSpc>
                <a:spcPts val="1500"/>
              </a:lnSpc>
              <a:buNone/>
            </a:pPr>
            <a:r>
              <a:rPr lang="en-US" sz="1000" b="1" dirty="0">
                <a:solidFill>
                  <a:srgbClr val="C44D58"/>
                </a:solidFill>
              </a:rPr>
              <a:t>Purpose:</a:t>
            </a:r>
            <a:r>
              <a:rPr lang="en-US" sz="1000" dirty="0">
                <a:solidFill>
                  <a:srgbClr val="333333"/>
                </a:solidFill>
              </a:rPr>
              <a:t> Direct support for business intelligence, dashboards, and reporting</a:t>
            </a:r>
            <a:endParaRPr lang="en-US" sz="1000" dirty="0"/>
          </a:p>
        </p:txBody>
      </p:sp>
      <p:sp>
        <p:nvSpPr>
          <p:cNvPr id="8" name="Text 5"/>
          <p:cNvSpPr/>
          <p:nvPr/>
        </p:nvSpPr>
        <p:spPr>
          <a:xfrm>
            <a:off x="428625" y="3461147"/>
            <a:ext cx="3294172" cy="178126"/>
          </a:xfrm>
          <a:prstGeom prst="rect">
            <a:avLst/>
          </a:prstGeom>
          <a:noFill/>
          <a:ln/>
        </p:spPr>
        <p:txBody>
          <a:bodyPr wrap="none" lIns="0" tIns="0" rIns="0" bIns="0" rtlCol="0" anchor="t">
            <a:spAutoFit/>
          </a:bodyPr>
          <a:lstStyle/>
          <a:p>
            <a:pPr marL="0" indent="0" algn="l">
              <a:lnSpc>
                <a:spcPts val="1500"/>
              </a:lnSpc>
              <a:buNone/>
            </a:pPr>
            <a:r>
              <a:rPr lang="en-US" sz="1000" b="1" dirty="0">
                <a:solidFill>
                  <a:srgbClr val="C44D58"/>
                </a:solidFill>
              </a:rPr>
              <a:t>Content:</a:t>
            </a:r>
            <a:r>
              <a:rPr lang="en-US" sz="1000" dirty="0">
                <a:solidFill>
                  <a:srgbClr val="333333"/>
                </a:solidFill>
              </a:rPr>
              <a:t> Pre-aggregated tables aligned with business use cases</a:t>
            </a:r>
            <a:endParaRPr lang="en-US" sz="1000" dirty="0"/>
          </a:p>
        </p:txBody>
      </p:sp>
      <p:sp>
        <p:nvSpPr>
          <p:cNvPr id="9" name="Text 6"/>
          <p:cNvSpPr/>
          <p:nvPr/>
        </p:nvSpPr>
        <p:spPr>
          <a:xfrm>
            <a:off x="428625" y="3796903"/>
            <a:ext cx="3289362" cy="178126"/>
          </a:xfrm>
          <a:prstGeom prst="rect">
            <a:avLst/>
          </a:prstGeom>
          <a:noFill/>
          <a:ln/>
        </p:spPr>
        <p:txBody>
          <a:bodyPr wrap="none" lIns="0" tIns="0" rIns="0" bIns="0" rtlCol="0" anchor="t">
            <a:spAutoFit/>
          </a:bodyPr>
          <a:lstStyle/>
          <a:p>
            <a:pPr marL="0" indent="0" algn="l">
              <a:lnSpc>
                <a:spcPts val="1500"/>
              </a:lnSpc>
              <a:buNone/>
            </a:pPr>
            <a:r>
              <a:rPr lang="en-US" sz="1000" b="1" dirty="0">
                <a:solidFill>
                  <a:srgbClr val="C44D58"/>
                </a:solidFill>
              </a:rPr>
              <a:t>Key Task:</a:t>
            </a:r>
            <a:r>
              <a:rPr lang="en-US" sz="1000" dirty="0">
                <a:solidFill>
                  <a:srgbClr val="333333"/>
                </a:solidFill>
              </a:rPr>
              <a:t> Create tables that answer specific business questions</a:t>
            </a:r>
            <a:endParaRPr lang="en-US" sz="1000" dirty="0"/>
          </a:p>
        </p:txBody>
      </p:sp>
      <p:sp>
        <p:nvSpPr>
          <p:cNvPr id="10" name="Text 7"/>
          <p:cNvSpPr/>
          <p:nvPr/>
        </p:nvSpPr>
        <p:spPr>
          <a:xfrm>
            <a:off x="5000625" y="428625"/>
            <a:ext cx="1407308" cy="153888"/>
          </a:xfrm>
          <a:prstGeom prst="rect">
            <a:avLst/>
          </a:prstGeom>
          <a:noFill/>
          <a:ln/>
        </p:spPr>
        <p:txBody>
          <a:bodyPr wrap="none" lIns="0" tIns="0" rIns="0" bIns="0" rtlCol="0" anchor="t">
            <a:spAutoFit/>
          </a:bodyPr>
          <a:lstStyle/>
          <a:p>
            <a:pPr marL="0" indent="0" algn="l">
              <a:lnSpc>
                <a:spcPts val="1200"/>
              </a:lnSpc>
              <a:buNone/>
            </a:pPr>
            <a:r>
              <a:rPr lang="en-US" sz="1050" b="1" kern="0" spc="1" dirty="0">
                <a:solidFill>
                  <a:srgbClr val="1A1A1A"/>
                </a:solidFill>
              </a:rPr>
              <a:t>The 3 Business Use Cases</a:t>
            </a:r>
            <a:endParaRPr lang="en-US" sz="1050" dirty="0"/>
          </a:p>
        </p:txBody>
      </p:sp>
      <p:sp>
        <p:nvSpPr>
          <p:cNvPr id="11" name="Shape 8"/>
          <p:cNvSpPr/>
          <p:nvPr/>
        </p:nvSpPr>
        <p:spPr>
          <a:xfrm>
            <a:off x="5000625" y="853678"/>
            <a:ext cx="357188" cy="357188"/>
          </a:xfrm>
          <a:prstGeom prst="rect">
            <a:avLst/>
          </a:prstGeom>
          <a:solidFill>
            <a:srgbClr val="FFFFFF"/>
          </a:solidFill>
          <a:ln w="18288">
            <a:solidFill>
              <a:srgbClr val="C44D58"/>
            </a:solidFill>
            <a:prstDash val="solid"/>
          </a:ln>
        </p:spPr>
        <p:txBody>
          <a:bodyPr/>
          <a:lstStyle/>
          <a:p>
            <a:endParaRPr lang="en-US" sz="2800"/>
          </a:p>
        </p:txBody>
      </p:sp>
      <p:sp>
        <p:nvSpPr>
          <p:cNvPr id="12" name="Text 9"/>
          <p:cNvSpPr/>
          <p:nvPr/>
        </p:nvSpPr>
        <p:spPr>
          <a:xfrm>
            <a:off x="5087848" y="869471"/>
            <a:ext cx="182742" cy="325602"/>
          </a:xfrm>
          <a:prstGeom prst="rect">
            <a:avLst/>
          </a:prstGeom>
          <a:noFill/>
          <a:ln/>
        </p:spPr>
        <p:txBody>
          <a:bodyPr wrap="none" lIns="0" tIns="0" rIns="0" bIns="0" rtlCol="0" anchor="ctr">
            <a:spAutoFit/>
          </a:bodyPr>
          <a:lstStyle/>
          <a:p>
            <a:pPr marL="0" indent="0" algn="ctr">
              <a:lnSpc>
                <a:spcPts val="2400"/>
              </a:lnSpc>
              <a:buNone/>
            </a:pPr>
            <a:r>
              <a:rPr lang="en-US" sz="2800" b="1" dirty="0">
                <a:solidFill>
                  <a:srgbClr val="C44D58"/>
                </a:solidFill>
              </a:rPr>
              <a:t>1</a:t>
            </a:r>
            <a:endParaRPr lang="en-US" sz="2800" dirty="0"/>
          </a:p>
        </p:txBody>
      </p:sp>
      <p:sp>
        <p:nvSpPr>
          <p:cNvPr id="13" name="Text 10"/>
          <p:cNvSpPr/>
          <p:nvPr/>
        </p:nvSpPr>
        <p:spPr>
          <a:xfrm>
            <a:off x="5500688" y="853678"/>
            <a:ext cx="1423467"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A1A1A"/>
                </a:solidFill>
              </a:rPr>
              <a:t>Brand Performance Report</a:t>
            </a:r>
            <a:endParaRPr lang="en-US" sz="1000" dirty="0"/>
          </a:p>
        </p:txBody>
      </p:sp>
      <p:sp>
        <p:nvSpPr>
          <p:cNvPr id="14" name="Text 11"/>
          <p:cNvSpPr/>
          <p:nvPr/>
        </p:nvSpPr>
        <p:spPr>
          <a:xfrm>
            <a:off x="5500688" y="1059396"/>
            <a:ext cx="3357563"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666666"/>
                </a:solidFill>
              </a:rPr>
              <a:t>Analyze brand-level pricing and discounting strategies to identify premium vs. budget brands</a:t>
            </a:r>
            <a:endParaRPr lang="en-US" sz="1000" dirty="0"/>
          </a:p>
        </p:txBody>
      </p:sp>
      <p:sp>
        <p:nvSpPr>
          <p:cNvPr id="15" name="Shape 12"/>
          <p:cNvSpPr/>
          <p:nvPr/>
        </p:nvSpPr>
        <p:spPr>
          <a:xfrm>
            <a:off x="5000625" y="1606562"/>
            <a:ext cx="357188" cy="357188"/>
          </a:xfrm>
          <a:prstGeom prst="rect">
            <a:avLst/>
          </a:prstGeom>
          <a:solidFill>
            <a:srgbClr val="FFFFFF"/>
          </a:solidFill>
          <a:ln w="18288">
            <a:solidFill>
              <a:srgbClr val="C44D58"/>
            </a:solidFill>
            <a:prstDash val="solid"/>
          </a:ln>
        </p:spPr>
        <p:txBody>
          <a:bodyPr/>
          <a:lstStyle/>
          <a:p>
            <a:endParaRPr lang="en-US" sz="2800"/>
          </a:p>
        </p:txBody>
      </p:sp>
      <p:sp>
        <p:nvSpPr>
          <p:cNvPr id="16" name="Text 13"/>
          <p:cNvSpPr/>
          <p:nvPr/>
        </p:nvSpPr>
        <p:spPr>
          <a:xfrm>
            <a:off x="5087848" y="1622355"/>
            <a:ext cx="182742" cy="325602"/>
          </a:xfrm>
          <a:prstGeom prst="rect">
            <a:avLst/>
          </a:prstGeom>
          <a:noFill/>
          <a:ln/>
        </p:spPr>
        <p:txBody>
          <a:bodyPr wrap="none" lIns="0" tIns="0" rIns="0" bIns="0" rtlCol="0" anchor="ctr">
            <a:spAutoFit/>
          </a:bodyPr>
          <a:lstStyle/>
          <a:p>
            <a:pPr marL="0" indent="0" algn="ctr">
              <a:lnSpc>
                <a:spcPts val="2400"/>
              </a:lnSpc>
              <a:buNone/>
            </a:pPr>
            <a:r>
              <a:rPr lang="en-US" sz="2800" b="1" dirty="0">
                <a:solidFill>
                  <a:srgbClr val="C44D58"/>
                </a:solidFill>
              </a:rPr>
              <a:t>2</a:t>
            </a:r>
            <a:endParaRPr lang="en-US" sz="2800" dirty="0"/>
          </a:p>
        </p:txBody>
      </p:sp>
      <p:sp>
        <p:nvSpPr>
          <p:cNvPr id="17" name="Text 14"/>
          <p:cNvSpPr/>
          <p:nvPr/>
        </p:nvSpPr>
        <p:spPr>
          <a:xfrm>
            <a:off x="5500688" y="1606562"/>
            <a:ext cx="1554913"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A1A1A"/>
                </a:solidFill>
              </a:rPr>
              <a:t>Category Inventory Summary</a:t>
            </a:r>
            <a:endParaRPr lang="en-US" sz="1000" dirty="0"/>
          </a:p>
        </p:txBody>
      </p:sp>
      <p:sp>
        <p:nvSpPr>
          <p:cNvPr id="18" name="Text 15"/>
          <p:cNvSpPr/>
          <p:nvPr/>
        </p:nvSpPr>
        <p:spPr>
          <a:xfrm>
            <a:off x="5500688" y="1812280"/>
            <a:ext cx="3638817"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666666"/>
                </a:solidFill>
              </a:rPr>
              <a:t>Assess stock value and item count per category for inventory planning</a:t>
            </a:r>
            <a:endParaRPr lang="en-US" sz="1000" dirty="0"/>
          </a:p>
        </p:txBody>
      </p:sp>
      <p:sp>
        <p:nvSpPr>
          <p:cNvPr id="19" name="Shape 16"/>
          <p:cNvSpPr/>
          <p:nvPr/>
        </p:nvSpPr>
        <p:spPr>
          <a:xfrm>
            <a:off x="5000625" y="2213781"/>
            <a:ext cx="357188" cy="357188"/>
          </a:xfrm>
          <a:prstGeom prst="rect">
            <a:avLst/>
          </a:prstGeom>
          <a:solidFill>
            <a:srgbClr val="FFFFFF"/>
          </a:solidFill>
          <a:ln w="18288">
            <a:solidFill>
              <a:srgbClr val="C44D58"/>
            </a:solidFill>
            <a:prstDash val="solid"/>
          </a:ln>
        </p:spPr>
        <p:txBody>
          <a:bodyPr/>
          <a:lstStyle/>
          <a:p>
            <a:endParaRPr lang="en-US" sz="2800"/>
          </a:p>
        </p:txBody>
      </p:sp>
      <p:sp>
        <p:nvSpPr>
          <p:cNvPr id="20" name="Text 17"/>
          <p:cNvSpPr/>
          <p:nvPr/>
        </p:nvSpPr>
        <p:spPr>
          <a:xfrm>
            <a:off x="5087848" y="2229574"/>
            <a:ext cx="182742" cy="325602"/>
          </a:xfrm>
          <a:prstGeom prst="rect">
            <a:avLst/>
          </a:prstGeom>
          <a:noFill/>
          <a:ln/>
        </p:spPr>
        <p:txBody>
          <a:bodyPr wrap="none" lIns="0" tIns="0" rIns="0" bIns="0" rtlCol="0" anchor="ctr">
            <a:spAutoFit/>
          </a:bodyPr>
          <a:lstStyle/>
          <a:p>
            <a:pPr marL="0" indent="0" algn="ctr">
              <a:lnSpc>
                <a:spcPts val="2400"/>
              </a:lnSpc>
              <a:buNone/>
            </a:pPr>
            <a:r>
              <a:rPr lang="en-US" sz="2800" b="1" dirty="0">
                <a:solidFill>
                  <a:srgbClr val="C44D58"/>
                </a:solidFill>
              </a:rPr>
              <a:t>3</a:t>
            </a:r>
            <a:endParaRPr lang="en-US" sz="2800" dirty="0"/>
          </a:p>
        </p:txBody>
      </p:sp>
      <p:sp>
        <p:nvSpPr>
          <p:cNvPr id="21" name="Text 18"/>
          <p:cNvSpPr/>
          <p:nvPr/>
        </p:nvSpPr>
        <p:spPr>
          <a:xfrm>
            <a:off x="5500688" y="2213781"/>
            <a:ext cx="961802" cy="153888"/>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1A1A1A"/>
                </a:solidFill>
              </a:rPr>
              <a:t>Price Tier Analysis</a:t>
            </a:r>
            <a:endParaRPr lang="en-US" sz="1000" dirty="0"/>
          </a:p>
        </p:txBody>
      </p:sp>
      <p:sp>
        <p:nvSpPr>
          <p:cNvPr id="22" name="Text 19"/>
          <p:cNvSpPr/>
          <p:nvPr/>
        </p:nvSpPr>
        <p:spPr>
          <a:xfrm>
            <a:off x="5500688" y="2419499"/>
            <a:ext cx="3357563"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666666"/>
                </a:solidFill>
              </a:rPr>
              <a:t>Classify products into Budget, Mid-Range, and Premium segments for market understanding</a:t>
            </a:r>
            <a:endParaRPr lang="en-US" sz="1000" dirty="0"/>
          </a:p>
        </p:txBody>
      </p:sp>
      <p:sp>
        <p:nvSpPr>
          <p:cNvPr id="23" name="Text 20"/>
          <p:cNvSpPr/>
          <p:nvPr/>
        </p:nvSpPr>
        <p:spPr>
          <a:xfrm>
            <a:off x="5000625" y="3252415"/>
            <a:ext cx="3857625" cy="449034"/>
          </a:xfrm>
          <a:prstGeom prst="rect">
            <a:avLst/>
          </a:prstGeom>
          <a:noFill/>
          <a:ln/>
        </p:spPr>
        <p:txBody>
          <a:bodyPr wrap="square" lIns="0" tIns="170053" rIns="0" bIns="0" rtlCol="0" anchor="t">
            <a:spAutoFit/>
          </a:bodyPr>
          <a:lstStyle/>
          <a:p>
            <a:pPr marL="0" indent="0" algn="l">
              <a:lnSpc>
                <a:spcPts val="1100"/>
              </a:lnSpc>
              <a:buNone/>
            </a:pPr>
            <a:r>
              <a:rPr lang="en-US" sz="900" i="1" dirty="0">
                <a:solidFill>
                  <a:srgbClr val="666666"/>
                </a:solidFill>
              </a:rPr>
              <a:t>Each use case generates a dedicated table in the Gold layer, optimized for specific business decisions and analytics workflows.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314448"/>
          </a:xfrm>
          <a:prstGeom prst="rect">
            <a:avLst/>
          </a:prstGeom>
        </p:spPr>
      </p:pic>
      <p:sp>
        <p:nvSpPr>
          <p:cNvPr id="3" name="Text 0"/>
          <p:cNvSpPr/>
          <p:nvPr/>
        </p:nvSpPr>
        <p:spPr>
          <a:xfrm>
            <a:off x="428625" y="357188"/>
            <a:ext cx="8286750" cy="781624"/>
          </a:xfrm>
          <a:prstGeom prst="rect">
            <a:avLst/>
          </a:prstGeom>
          <a:noFill/>
          <a:ln/>
        </p:spPr>
        <p:txBody>
          <a:bodyPr wrap="square" lIns="0" tIns="0" rIns="0" bIns="0" rtlCol="0" anchor="t">
            <a:spAutoFit/>
          </a:bodyPr>
          <a:lstStyle/>
          <a:p>
            <a:pPr marL="0" indent="0" algn="l">
              <a:lnSpc>
                <a:spcPts val="3000"/>
              </a:lnSpc>
              <a:buNone/>
            </a:pPr>
            <a:r>
              <a:rPr lang="en-US" sz="3200" b="1" dirty="0">
                <a:solidFill>
                  <a:srgbClr val="1A1A1A"/>
                </a:solidFill>
              </a:rPr>
              <a:t>Gold Layer Insights: Brand Performance and Inventory</a:t>
            </a:r>
            <a:endParaRPr lang="en-US" sz="3200" dirty="0"/>
          </a:p>
        </p:txBody>
      </p:sp>
      <p:sp>
        <p:nvSpPr>
          <p:cNvPr id="4" name="Text 1"/>
          <p:cNvSpPr/>
          <p:nvPr/>
        </p:nvSpPr>
        <p:spPr>
          <a:xfrm>
            <a:off x="428625" y="1218679"/>
            <a:ext cx="559127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666666"/>
                </a:solidFill>
              </a:rPr>
              <a:t>Two critical business intelligence tables that enable strategic decision-making and operational optimization.</a:t>
            </a:r>
            <a:endParaRPr lang="en-US" sz="1000" dirty="0"/>
          </a:p>
        </p:txBody>
      </p:sp>
      <p:sp>
        <p:nvSpPr>
          <p:cNvPr id="5" name="Shape 2"/>
          <p:cNvSpPr/>
          <p:nvPr/>
        </p:nvSpPr>
        <p:spPr>
          <a:xfrm>
            <a:off x="428625" y="1675879"/>
            <a:ext cx="4036219" cy="3638569"/>
          </a:xfrm>
          <a:prstGeom prst="rect">
            <a:avLst/>
          </a:prstGeom>
          <a:solidFill>
            <a:srgbClr val="FFFFFF"/>
          </a:solidFill>
          <a:ln w="18288">
            <a:solidFill>
              <a:srgbClr val="1A1A1A"/>
            </a:solidFill>
            <a:prstDash val="solid"/>
          </a:ln>
        </p:spPr>
        <p:txBody>
          <a:bodyPr/>
          <a:lstStyle/>
          <a:p>
            <a:endParaRPr lang="en-US" sz="2800"/>
          </a:p>
        </p:txBody>
      </p:sp>
      <p:sp>
        <p:nvSpPr>
          <p:cNvPr id="6" name="Text 3"/>
          <p:cNvSpPr/>
          <p:nvPr/>
        </p:nvSpPr>
        <p:spPr>
          <a:xfrm>
            <a:off x="642938" y="1890192"/>
            <a:ext cx="2552365" cy="234038"/>
          </a:xfrm>
          <a:prstGeom prst="rect">
            <a:avLst/>
          </a:prstGeom>
          <a:noFill/>
          <a:ln/>
        </p:spPr>
        <p:txBody>
          <a:bodyPr wrap="none" lIns="0" tIns="0" rIns="0" bIns="0" rtlCol="0" anchor="t">
            <a:spAutoFit/>
          </a:bodyPr>
          <a:lstStyle/>
          <a:p>
            <a:pPr marL="0" indent="0" algn="l">
              <a:lnSpc>
                <a:spcPts val="1800"/>
              </a:lnSpc>
              <a:buNone/>
            </a:pPr>
            <a:r>
              <a:rPr lang="en-US" b="1" dirty="0">
                <a:solidFill>
                  <a:srgbClr val="1A1A1A"/>
                </a:solidFill>
              </a:rPr>
              <a:t>Brand Performance Report</a:t>
            </a:r>
            <a:endParaRPr lang="en-US" dirty="0"/>
          </a:p>
        </p:txBody>
      </p:sp>
      <p:sp>
        <p:nvSpPr>
          <p:cNvPr id="7" name="Text 4"/>
          <p:cNvSpPr/>
          <p:nvPr/>
        </p:nvSpPr>
        <p:spPr>
          <a:xfrm>
            <a:off x="642938" y="2184509"/>
            <a:ext cx="1455142" cy="117020"/>
          </a:xfrm>
          <a:prstGeom prst="rect">
            <a:avLst/>
          </a:prstGeom>
          <a:noFill/>
          <a:ln/>
        </p:spPr>
        <p:txBody>
          <a:bodyPr wrap="none" lIns="0" tIns="0" rIns="0" bIns="0" rtlCol="0" anchor="t">
            <a:spAutoFit/>
          </a:bodyPr>
          <a:lstStyle/>
          <a:p>
            <a:pPr marL="0" indent="0" algn="l">
              <a:lnSpc>
                <a:spcPts val="900"/>
              </a:lnSpc>
              <a:buNone/>
            </a:pPr>
            <a:r>
              <a:rPr lang="en-US" sz="900" b="1" kern="0" spc="1" dirty="0">
                <a:solidFill>
                  <a:srgbClr val="C44D58"/>
                </a:solidFill>
              </a:rPr>
              <a:t>GOLD.BRAND_PERFORMANCE</a:t>
            </a:r>
            <a:endParaRPr lang="en-US" sz="900" dirty="0"/>
          </a:p>
        </p:txBody>
      </p:sp>
      <p:sp>
        <p:nvSpPr>
          <p:cNvPr id="8" name="Text 5"/>
          <p:cNvSpPr/>
          <p:nvPr/>
        </p:nvSpPr>
        <p:spPr>
          <a:xfrm>
            <a:off x="642938" y="2597060"/>
            <a:ext cx="628185" cy="141064"/>
          </a:xfrm>
          <a:prstGeom prst="rect">
            <a:avLst/>
          </a:prstGeom>
          <a:noFill/>
          <a:ln/>
        </p:spPr>
        <p:txBody>
          <a:bodyPr wrap="none" lIns="0" tIns="0" rIns="0" bIns="0" rtlCol="0" anchor="t">
            <a:spAutoFit/>
          </a:bodyPr>
          <a:lstStyle/>
          <a:p>
            <a:pPr marL="0" indent="0" algn="l">
              <a:lnSpc>
                <a:spcPts val="1100"/>
              </a:lnSpc>
              <a:buNone/>
            </a:pPr>
            <a:r>
              <a:rPr lang="en-US" sz="1000" b="1" kern="0" spc="1" dirty="0">
                <a:solidFill>
                  <a:srgbClr val="1A1A1A"/>
                </a:solidFill>
              </a:rPr>
              <a:t>Key Metrics</a:t>
            </a:r>
            <a:endParaRPr lang="en-US" sz="1000" dirty="0"/>
          </a:p>
        </p:txBody>
      </p:sp>
      <p:sp>
        <p:nvSpPr>
          <p:cNvPr id="9" name="Text 6"/>
          <p:cNvSpPr/>
          <p:nvPr/>
        </p:nvSpPr>
        <p:spPr>
          <a:xfrm>
            <a:off x="642938" y="2838162"/>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10" name="Text 7"/>
          <p:cNvSpPr/>
          <p:nvPr/>
        </p:nvSpPr>
        <p:spPr>
          <a:xfrm>
            <a:off x="785813" y="2859593"/>
            <a:ext cx="771045"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Total Products</a:t>
            </a:r>
            <a:endParaRPr lang="en-US" sz="1000" dirty="0"/>
          </a:p>
        </p:txBody>
      </p:sp>
      <p:sp>
        <p:nvSpPr>
          <p:cNvPr id="11" name="Text 8"/>
          <p:cNvSpPr/>
          <p:nvPr/>
        </p:nvSpPr>
        <p:spPr>
          <a:xfrm>
            <a:off x="1500606" y="2859593"/>
            <a:ext cx="2603277"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 Count of products per brand for volume analysis</a:t>
            </a:r>
            <a:endParaRPr lang="en-US" sz="1000" dirty="0"/>
          </a:p>
        </p:txBody>
      </p:sp>
      <p:sp>
        <p:nvSpPr>
          <p:cNvPr id="12" name="Text 9"/>
          <p:cNvSpPr/>
          <p:nvPr/>
        </p:nvSpPr>
        <p:spPr>
          <a:xfrm>
            <a:off x="642938" y="3075329"/>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13" name="Text 10"/>
          <p:cNvSpPr/>
          <p:nvPr/>
        </p:nvSpPr>
        <p:spPr>
          <a:xfrm>
            <a:off x="785813" y="3096760"/>
            <a:ext cx="716543"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Average MRP</a:t>
            </a:r>
            <a:endParaRPr lang="en-US" sz="1000" dirty="0"/>
          </a:p>
        </p:txBody>
      </p:sp>
      <p:sp>
        <p:nvSpPr>
          <p:cNvPr id="14" name="Text 11"/>
          <p:cNvSpPr/>
          <p:nvPr/>
        </p:nvSpPr>
        <p:spPr>
          <a:xfrm>
            <a:off x="1446219" y="3096760"/>
            <a:ext cx="244137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 Mean retail price to identify price positioning</a:t>
            </a:r>
            <a:endParaRPr lang="en-US" sz="1000" dirty="0"/>
          </a:p>
        </p:txBody>
      </p:sp>
      <p:sp>
        <p:nvSpPr>
          <p:cNvPr id="15" name="Text 12"/>
          <p:cNvSpPr/>
          <p:nvPr/>
        </p:nvSpPr>
        <p:spPr>
          <a:xfrm>
            <a:off x="642938" y="3312495"/>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16" name="Text 13"/>
          <p:cNvSpPr/>
          <p:nvPr/>
        </p:nvSpPr>
        <p:spPr>
          <a:xfrm>
            <a:off x="785813" y="3333927"/>
            <a:ext cx="944169"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Average Sell Price</a:t>
            </a:r>
            <a:endParaRPr lang="en-US" sz="1000" dirty="0"/>
          </a:p>
        </p:txBody>
      </p:sp>
      <p:sp>
        <p:nvSpPr>
          <p:cNvPr id="17" name="Text 14"/>
          <p:cNvSpPr/>
          <p:nvPr/>
        </p:nvSpPr>
        <p:spPr>
          <a:xfrm>
            <a:off x="1673535" y="3333927"/>
            <a:ext cx="2111155"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 Mean selling price for revenue analysis</a:t>
            </a:r>
            <a:endParaRPr lang="en-US" sz="1000" dirty="0"/>
          </a:p>
        </p:txBody>
      </p:sp>
      <p:sp>
        <p:nvSpPr>
          <p:cNvPr id="18" name="Text 15"/>
          <p:cNvSpPr/>
          <p:nvPr/>
        </p:nvSpPr>
        <p:spPr>
          <a:xfrm>
            <a:off x="642938" y="3549662"/>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19" name="Text 16"/>
          <p:cNvSpPr/>
          <p:nvPr/>
        </p:nvSpPr>
        <p:spPr>
          <a:xfrm>
            <a:off x="785813" y="3571094"/>
            <a:ext cx="1275990"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Discounted Items Count</a:t>
            </a:r>
            <a:endParaRPr lang="en-US" sz="1000" dirty="0"/>
          </a:p>
        </p:txBody>
      </p:sp>
      <p:sp>
        <p:nvSpPr>
          <p:cNvPr id="20" name="Text 17"/>
          <p:cNvSpPr/>
          <p:nvPr/>
        </p:nvSpPr>
        <p:spPr>
          <a:xfrm>
            <a:off x="1739683" y="3550536"/>
            <a:ext cx="3295948" cy="168508"/>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 Number of items with active discounts per brand</a:t>
            </a:r>
            <a:endParaRPr lang="en-US" sz="1000" dirty="0"/>
          </a:p>
        </p:txBody>
      </p:sp>
      <p:sp>
        <p:nvSpPr>
          <p:cNvPr id="21" name="Text 18"/>
          <p:cNvSpPr/>
          <p:nvPr/>
        </p:nvSpPr>
        <p:spPr>
          <a:xfrm>
            <a:off x="642938" y="4374040"/>
            <a:ext cx="718338" cy="107402"/>
          </a:xfrm>
          <a:prstGeom prst="rect">
            <a:avLst/>
          </a:prstGeom>
          <a:noFill/>
          <a:ln/>
        </p:spPr>
        <p:txBody>
          <a:bodyPr wrap="none" lIns="0" tIns="0" rIns="0" bIns="0" rtlCol="0" anchor="t">
            <a:spAutoFit/>
          </a:bodyPr>
          <a:lstStyle/>
          <a:p>
            <a:pPr marL="0" indent="0" algn="l">
              <a:lnSpc>
                <a:spcPts val="800"/>
              </a:lnSpc>
              <a:buNone/>
            </a:pPr>
            <a:r>
              <a:rPr lang="en-US" sz="900" b="1" kern="0" spc="1" dirty="0">
                <a:solidFill>
                  <a:srgbClr val="C44D58"/>
                </a:solidFill>
              </a:rPr>
              <a:t>Business Value</a:t>
            </a:r>
            <a:endParaRPr lang="en-US" sz="900" dirty="0"/>
          </a:p>
        </p:txBody>
      </p:sp>
      <p:sp>
        <p:nvSpPr>
          <p:cNvPr id="22" name="Text 19"/>
          <p:cNvSpPr/>
          <p:nvPr/>
        </p:nvSpPr>
        <p:spPr>
          <a:xfrm>
            <a:off x="642938" y="4547276"/>
            <a:ext cx="3607594" cy="492314"/>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333333"/>
                </a:solidFill>
              </a:rPr>
              <a:t>Enables strategic decisions on brand partnerships, pricing strategies, and promotional focus. Identify which brands are premium (high average price) and which are budget (high discount rate).</a:t>
            </a:r>
            <a:endParaRPr lang="en-US" sz="1000" dirty="0"/>
          </a:p>
        </p:txBody>
      </p:sp>
      <p:sp>
        <p:nvSpPr>
          <p:cNvPr id="23" name="Shape 20"/>
          <p:cNvSpPr/>
          <p:nvPr/>
        </p:nvSpPr>
        <p:spPr>
          <a:xfrm>
            <a:off x="4679156" y="1675879"/>
            <a:ext cx="4036219" cy="3638569"/>
          </a:xfrm>
          <a:prstGeom prst="rect">
            <a:avLst/>
          </a:prstGeom>
          <a:solidFill>
            <a:srgbClr val="FFFFFF"/>
          </a:solidFill>
          <a:ln w="18288">
            <a:solidFill>
              <a:srgbClr val="1A1A1A"/>
            </a:solidFill>
            <a:prstDash val="solid"/>
          </a:ln>
        </p:spPr>
        <p:txBody>
          <a:bodyPr/>
          <a:lstStyle/>
          <a:p>
            <a:endParaRPr lang="en-US" sz="2800"/>
          </a:p>
        </p:txBody>
      </p:sp>
      <p:sp>
        <p:nvSpPr>
          <p:cNvPr id="24" name="Text 21"/>
          <p:cNvSpPr/>
          <p:nvPr/>
        </p:nvSpPr>
        <p:spPr>
          <a:xfrm>
            <a:off x="4893469" y="1890192"/>
            <a:ext cx="2784993" cy="234038"/>
          </a:xfrm>
          <a:prstGeom prst="rect">
            <a:avLst/>
          </a:prstGeom>
          <a:noFill/>
          <a:ln/>
        </p:spPr>
        <p:txBody>
          <a:bodyPr wrap="none" lIns="0" tIns="0" rIns="0" bIns="0" rtlCol="0" anchor="t">
            <a:spAutoFit/>
          </a:bodyPr>
          <a:lstStyle/>
          <a:p>
            <a:pPr marL="0" indent="0" algn="l">
              <a:lnSpc>
                <a:spcPts val="1800"/>
              </a:lnSpc>
              <a:buNone/>
            </a:pPr>
            <a:r>
              <a:rPr lang="en-US" b="1" dirty="0">
                <a:solidFill>
                  <a:srgbClr val="1A1A1A"/>
                </a:solidFill>
              </a:rPr>
              <a:t>Category Inventory Summary</a:t>
            </a:r>
            <a:endParaRPr lang="en-US" dirty="0"/>
          </a:p>
        </p:txBody>
      </p:sp>
      <p:sp>
        <p:nvSpPr>
          <p:cNvPr id="25" name="Text 22"/>
          <p:cNvSpPr/>
          <p:nvPr/>
        </p:nvSpPr>
        <p:spPr>
          <a:xfrm>
            <a:off x="4893469" y="2184509"/>
            <a:ext cx="1453668" cy="117020"/>
          </a:xfrm>
          <a:prstGeom prst="rect">
            <a:avLst/>
          </a:prstGeom>
          <a:noFill/>
          <a:ln/>
        </p:spPr>
        <p:txBody>
          <a:bodyPr wrap="none" lIns="0" tIns="0" rIns="0" bIns="0" rtlCol="0" anchor="t">
            <a:spAutoFit/>
          </a:bodyPr>
          <a:lstStyle/>
          <a:p>
            <a:pPr marL="0" indent="0" algn="l">
              <a:lnSpc>
                <a:spcPts val="900"/>
              </a:lnSpc>
              <a:buNone/>
            </a:pPr>
            <a:r>
              <a:rPr lang="en-US" sz="900" b="1" kern="0" spc="1" dirty="0">
                <a:solidFill>
                  <a:srgbClr val="C44D58"/>
                </a:solidFill>
              </a:rPr>
              <a:t>GOLD.CATEGORY_INVENTORY</a:t>
            </a:r>
            <a:endParaRPr lang="en-US" sz="900" dirty="0"/>
          </a:p>
        </p:txBody>
      </p:sp>
      <p:sp>
        <p:nvSpPr>
          <p:cNvPr id="26" name="Text 23"/>
          <p:cNvSpPr/>
          <p:nvPr/>
        </p:nvSpPr>
        <p:spPr>
          <a:xfrm>
            <a:off x="4893469" y="2597060"/>
            <a:ext cx="628185" cy="141064"/>
          </a:xfrm>
          <a:prstGeom prst="rect">
            <a:avLst/>
          </a:prstGeom>
          <a:noFill/>
          <a:ln/>
        </p:spPr>
        <p:txBody>
          <a:bodyPr wrap="none" lIns="0" tIns="0" rIns="0" bIns="0" rtlCol="0" anchor="t">
            <a:spAutoFit/>
          </a:bodyPr>
          <a:lstStyle/>
          <a:p>
            <a:pPr marL="0" indent="0" algn="l">
              <a:lnSpc>
                <a:spcPts val="1100"/>
              </a:lnSpc>
              <a:buNone/>
            </a:pPr>
            <a:r>
              <a:rPr lang="en-US" sz="1000" b="1" kern="0" spc="1" dirty="0">
                <a:solidFill>
                  <a:srgbClr val="1A1A1A"/>
                </a:solidFill>
              </a:rPr>
              <a:t>Key Metrics</a:t>
            </a:r>
            <a:endParaRPr lang="en-US" sz="1000" dirty="0"/>
          </a:p>
        </p:txBody>
      </p:sp>
      <p:sp>
        <p:nvSpPr>
          <p:cNvPr id="27" name="Text 24"/>
          <p:cNvSpPr/>
          <p:nvPr/>
        </p:nvSpPr>
        <p:spPr>
          <a:xfrm>
            <a:off x="4893469" y="2838162"/>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28" name="Text 25"/>
          <p:cNvSpPr/>
          <p:nvPr/>
        </p:nvSpPr>
        <p:spPr>
          <a:xfrm>
            <a:off x="5036344" y="2859593"/>
            <a:ext cx="771045"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Total Products</a:t>
            </a:r>
            <a:endParaRPr lang="en-US" sz="1000" dirty="0"/>
          </a:p>
        </p:txBody>
      </p:sp>
      <p:sp>
        <p:nvSpPr>
          <p:cNvPr id="29" name="Text 26"/>
          <p:cNvSpPr/>
          <p:nvPr/>
        </p:nvSpPr>
        <p:spPr>
          <a:xfrm>
            <a:off x="5751137" y="2859593"/>
            <a:ext cx="2306722"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 Total number of products in each category</a:t>
            </a:r>
            <a:endParaRPr lang="en-US" sz="1000" dirty="0"/>
          </a:p>
        </p:txBody>
      </p:sp>
      <p:sp>
        <p:nvSpPr>
          <p:cNvPr id="30" name="Text 27"/>
          <p:cNvSpPr/>
          <p:nvPr/>
        </p:nvSpPr>
        <p:spPr>
          <a:xfrm>
            <a:off x="4893469" y="3075329"/>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31" name="Text 28"/>
          <p:cNvSpPr/>
          <p:nvPr/>
        </p:nvSpPr>
        <p:spPr>
          <a:xfrm>
            <a:off x="5036344" y="3096760"/>
            <a:ext cx="1149354"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Total Inventory Value</a:t>
            </a:r>
            <a:endParaRPr lang="en-US" sz="1000" dirty="0"/>
          </a:p>
        </p:txBody>
      </p:sp>
      <p:sp>
        <p:nvSpPr>
          <p:cNvPr id="32" name="Text 29"/>
          <p:cNvSpPr/>
          <p:nvPr/>
        </p:nvSpPr>
        <p:spPr>
          <a:xfrm>
            <a:off x="6108185" y="3096760"/>
            <a:ext cx="2189702"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 Sum of sell prices (total capital invested)</a:t>
            </a:r>
            <a:endParaRPr lang="en-US" sz="1000" dirty="0"/>
          </a:p>
        </p:txBody>
      </p:sp>
      <p:sp>
        <p:nvSpPr>
          <p:cNvPr id="33" name="Text 30"/>
          <p:cNvSpPr/>
          <p:nvPr/>
        </p:nvSpPr>
        <p:spPr>
          <a:xfrm>
            <a:off x="4893469" y="3312495"/>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34" name="Text 31"/>
          <p:cNvSpPr/>
          <p:nvPr/>
        </p:nvSpPr>
        <p:spPr>
          <a:xfrm>
            <a:off x="5036344" y="3333927"/>
            <a:ext cx="1041952"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Average Item Value</a:t>
            </a:r>
            <a:endParaRPr lang="en-US" sz="1000" dirty="0"/>
          </a:p>
        </p:txBody>
      </p:sp>
      <p:sp>
        <p:nvSpPr>
          <p:cNvPr id="35" name="Text 32"/>
          <p:cNvSpPr/>
          <p:nvPr/>
        </p:nvSpPr>
        <p:spPr>
          <a:xfrm>
            <a:off x="6017968" y="3333927"/>
            <a:ext cx="1966885"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 Mean price per item in the category</a:t>
            </a:r>
            <a:endParaRPr lang="en-US" sz="1000" dirty="0"/>
          </a:p>
        </p:txBody>
      </p:sp>
      <p:sp>
        <p:nvSpPr>
          <p:cNvPr id="36" name="Text 33"/>
          <p:cNvSpPr/>
          <p:nvPr/>
        </p:nvSpPr>
        <p:spPr>
          <a:xfrm>
            <a:off x="4893469" y="3549662"/>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37" name="Text 34"/>
          <p:cNvSpPr/>
          <p:nvPr/>
        </p:nvSpPr>
        <p:spPr>
          <a:xfrm>
            <a:off x="5036344" y="3571094"/>
            <a:ext cx="1187826"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Category Performance</a:t>
            </a:r>
            <a:endParaRPr lang="en-US" sz="1000" dirty="0"/>
          </a:p>
        </p:txBody>
      </p:sp>
      <p:sp>
        <p:nvSpPr>
          <p:cNvPr id="38" name="Text 35"/>
          <p:cNvSpPr/>
          <p:nvPr/>
        </p:nvSpPr>
        <p:spPr>
          <a:xfrm>
            <a:off x="5862758" y="3575206"/>
            <a:ext cx="3280125" cy="168508"/>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 Ordered by total inventory value for priority ranking</a:t>
            </a:r>
            <a:endParaRPr lang="en-US" sz="1000" dirty="0"/>
          </a:p>
        </p:txBody>
      </p:sp>
      <p:sp>
        <p:nvSpPr>
          <p:cNvPr id="39" name="Text 36"/>
          <p:cNvSpPr/>
          <p:nvPr/>
        </p:nvSpPr>
        <p:spPr>
          <a:xfrm>
            <a:off x="4893469" y="4374040"/>
            <a:ext cx="718338" cy="107402"/>
          </a:xfrm>
          <a:prstGeom prst="rect">
            <a:avLst/>
          </a:prstGeom>
          <a:noFill/>
          <a:ln/>
        </p:spPr>
        <p:txBody>
          <a:bodyPr wrap="none" lIns="0" tIns="0" rIns="0" bIns="0" rtlCol="0" anchor="t">
            <a:spAutoFit/>
          </a:bodyPr>
          <a:lstStyle/>
          <a:p>
            <a:pPr marL="0" indent="0" algn="l">
              <a:lnSpc>
                <a:spcPts val="800"/>
              </a:lnSpc>
              <a:buNone/>
            </a:pPr>
            <a:r>
              <a:rPr lang="en-US" sz="900" b="1" kern="0" spc="1" dirty="0">
                <a:solidFill>
                  <a:srgbClr val="C44D58"/>
                </a:solidFill>
              </a:rPr>
              <a:t>Business Value</a:t>
            </a:r>
            <a:endParaRPr lang="en-US" sz="900" dirty="0"/>
          </a:p>
        </p:txBody>
      </p:sp>
      <p:sp>
        <p:nvSpPr>
          <p:cNvPr id="40" name="Text 37"/>
          <p:cNvSpPr/>
          <p:nvPr/>
        </p:nvSpPr>
        <p:spPr>
          <a:xfrm>
            <a:off x="4893469" y="4547276"/>
            <a:ext cx="3607594" cy="492314"/>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333333"/>
                </a:solidFill>
              </a:rPr>
              <a:t>Supports inventory optimization, warehouse planning, and capital allocation decisions across categories. Assess stock value and item count per category for strategic resource allocation.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0443"/>
          </a:xfrm>
          <a:prstGeom prst="rect">
            <a:avLst/>
          </a:prstGeom>
        </p:spPr>
      </p:pic>
      <p:sp>
        <p:nvSpPr>
          <p:cNvPr id="3" name="Text 0"/>
          <p:cNvSpPr/>
          <p:nvPr/>
        </p:nvSpPr>
        <p:spPr>
          <a:xfrm>
            <a:off x="0" y="357188"/>
            <a:ext cx="7777450" cy="325602"/>
          </a:xfrm>
          <a:prstGeom prst="rect">
            <a:avLst/>
          </a:prstGeom>
          <a:noFill/>
          <a:ln/>
        </p:spPr>
        <p:txBody>
          <a:bodyPr wrap="none" lIns="510286" tIns="0" rIns="510286" bIns="0" rtlCol="0" anchor="t">
            <a:spAutoFit/>
          </a:bodyPr>
          <a:lstStyle/>
          <a:p>
            <a:pPr marL="0" indent="0" algn="l">
              <a:lnSpc>
                <a:spcPts val="2400"/>
              </a:lnSpc>
              <a:buNone/>
            </a:pPr>
            <a:r>
              <a:rPr lang="en-US" sz="2800" b="1" dirty="0">
                <a:solidFill>
                  <a:srgbClr val="1A1A1A"/>
                </a:solidFill>
              </a:rPr>
              <a:t>Gold Layer Insights: Price Tiers and Data Flow</a:t>
            </a:r>
            <a:endParaRPr lang="en-US" sz="2800" dirty="0"/>
          </a:p>
        </p:txBody>
      </p:sp>
      <p:sp>
        <p:nvSpPr>
          <p:cNvPr id="4" name="Text 1"/>
          <p:cNvSpPr/>
          <p:nvPr/>
        </p:nvSpPr>
        <p:spPr>
          <a:xfrm>
            <a:off x="428625" y="987261"/>
            <a:ext cx="1062022" cy="171907"/>
          </a:xfrm>
          <a:prstGeom prst="rect">
            <a:avLst/>
          </a:prstGeom>
          <a:noFill/>
          <a:ln/>
        </p:spPr>
        <p:txBody>
          <a:bodyPr wrap="none" lIns="0" tIns="0" rIns="0" bIns="0" rtlCol="0" anchor="t">
            <a:spAutoFit/>
          </a:bodyPr>
          <a:lstStyle/>
          <a:p>
            <a:pPr marL="0" indent="0" algn="l">
              <a:lnSpc>
                <a:spcPts val="1400"/>
              </a:lnSpc>
              <a:buNone/>
            </a:pPr>
            <a:r>
              <a:rPr lang="en-US" sz="1100" b="1" kern="0" spc="1" dirty="0">
                <a:solidFill>
                  <a:srgbClr val="1A1A1A"/>
                </a:solidFill>
              </a:rPr>
              <a:t>Price Tier Analysis</a:t>
            </a:r>
            <a:endParaRPr lang="en-US" sz="1100" dirty="0"/>
          </a:p>
        </p:txBody>
      </p:sp>
      <p:sp>
        <p:nvSpPr>
          <p:cNvPr id="5" name="Shape 2"/>
          <p:cNvSpPr/>
          <p:nvPr/>
        </p:nvSpPr>
        <p:spPr>
          <a:xfrm>
            <a:off x="428625" y="1360522"/>
            <a:ext cx="3571875" cy="927571"/>
          </a:xfrm>
          <a:prstGeom prst="rect">
            <a:avLst/>
          </a:prstGeom>
          <a:solidFill>
            <a:srgbClr val="F0F8F5"/>
          </a:solidFill>
          <a:ln/>
        </p:spPr>
        <p:txBody>
          <a:bodyPr/>
          <a:lstStyle/>
          <a:p>
            <a:endParaRPr lang="en-US" sz="2800"/>
          </a:p>
        </p:txBody>
      </p:sp>
      <p:sp>
        <p:nvSpPr>
          <p:cNvPr id="6" name="Shape 3"/>
          <p:cNvSpPr/>
          <p:nvPr/>
        </p:nvSpPr>
        <p:spPr>
          <a:xfrm>
            <a:off x="428625" y="1360522"/>
            <a:ext cx="3571875" cy="14288"/>
          </a:xfrm>
          <a:prstGeom prst="rect">
            <a:avLst/>
          </a:prstGeom>
          <a:solidFill>
            <a:srgbClr val="1A1A1A"/>
          </a:solidFill>
          <a:ln/>
        </p:spPr>
        <p:txBody>
          <a:bodyPr/>
          <a:lstStyle/>
          <a:p>
            <a:endParaRPr lang="en-US" sz="2800"/>
          </a:p>
        </p:txBody>
      </p:sp>
      <p:sp>
        <p:nvSpPr>
          <p:cNvPr id="7" name="Shape 4"/>
          <p:cNvSpPr/>
          <p:nvPr/>
        </p:nvSpPr>
        <p:spPr>
          <a:xfrm>
            <a:off x="3986213" y="1360522"/>
            <a:ext cx="14288" cy="927571"/>
          </a:xfrm>
          <a:prstGeom prst="rect">
            <a:avLst/>
          </a:prstGeom>
          <a:solidFill>
            <a:srgbClr val="1A1A1A"/>
          </a:solidFill>
          <a:ln/>
        </p:spPr>
        <p:txBody>
          <a:bodyPr/>
          <a:lstStyle/>
          <a:p>
            <a:endParaRPr lang="en-US" sz="2800"/>
          </a:p>
        </p:txBody>
      </p:sp>
      <p:sp>
        <p:nvSpPr>
          <p:cNvPr id="8" name="Shape 5"/>
          <p:cNvSpPr/>
          <p:nvPr/>
        </p:nvSpPr>
        <p:spPr>
          <a:xfrm>
            <a:off x="428625" y="2273805"/>
            <a:ext cx="3571875" cy="14288"/>
          </a:xfrm>
          <a:prstGeom prst="rect">
            <a:avLst/>
          </a:prstGeom>
          <a:solidFill>
            <a:srgbClr val="1A1A1A"/>
          </a:solidFill>
          <a:ln/>
        </p:spPr>
        <p:txBody>
          <a:bodyPr/>
          <a:lstStyle/>
          <a:p>
            <a:endParaRPr lang="en-US" sz="2800"/>
          </a:p>
        </p:txBody>
      </p:sp>
      <p:sp>
        <p:nvSpPr>
          <p:cNvPr id="9" name="Shape 6"/>
          <p:cNvSpPr/>
          <p:nvPr/>
        </p:nvSpPr>
        <p:spPr>
          <a:xfrm>
            <a:off x="428625" y="1360522"/>
            <a:ext cx="42863" cy="927571"/>
          </a:xfrm>
          <a:prstGeom prst="rect">
            <a:avLst/>
          </a:prstGeom>
          <a:solidFill>
            <a:srgbClr val="C44D58"/>
          </a:solidFill>
          <a:ln/>
        </p:spPr>
        <p:txBody>
          <a:bodyPr/>
          <a:lstStyle/>
          <a:p>
            <a:endParaRPr lang="en-US" sz="2800"/>
          </a:p>
        </p:txBody>
      </p:sp>
      <p:sp>
        <p:nvSpPr>
          <p:cNvPr id="10" name="Text 7"/>
          <p:cNvSpPr/>
          <p:nvPr/>
        </p:nvSpPr>
        <p:spPr>
          <a:xfrm>
            <a:off x="514350" y="1446247"/>
            <a:ext cx="644407"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A1A1A"/>
                </a:solidFill>
              </a:rPr>
              <a:t>Budget Tier</a:t>
            </a:r>
            <a:endParaRPr lang="en-US" sz="1050" dirty="0"/>
          </a:p>
        </p:txBody>
      </p:sp>
      <p:sp>
        <p:nvSpPr>
          <p:cNvPr id="11" name="Text 8"/>
          <p:cNvSpPr/>
          <p:nvPr/>
        </p:nvSpPr>
        <p:spPr>
          <a:xfrm>
            <a:off x="514350" y="1678418"/>
            <a:ext cx="482504" cy="117020"/>
          </a:xfrm>
          <a:prstGeom prst="rect">
            <a:avLst/>
          </a:prstGeom>
          <a:noFill/>
          <a:ln/>
        </p:spPr>
        <p:txBody>
          <a:bodyPr wrap="none" lIns="0" tIns="0" rIns="0" bIns="0" rtlCol="0" anchor="t">
            <a:spAutoFit/>
          </a:bodyPr>
          <a:lstStyle/>
          <a:p>
            <a:pPr marL="0" indent="0" algn="l">
              <a:lnSpc>
                <a:spcPts val="900"/>
              </a:lnSpc>
              <a:buNone/>
            </a:pPr>
            <a:r>
              <a:rPr lang="en-US" sz="900" b="1" dirty="0">
                <a:solidFill>
                  <a:srgbClr val="C44D58"/>
                </a:solidFill>
              </a:rPr>
              <a:t>&lt; Rs 1,000</a:t>
            </a:r>
            <a:endParaRPr lang="en-US" sz="900" dirty="0"/>
          </a:p>
        </p:txBody>
      </p:sp>
      <p:sp>
        <p:nvSpPr>
          <p:cNvPr id="12" name="Text 9"/>
          <p:cNvSpPr/>
          <p:nvPr/>
        </p:nvSpPr>
        <p:spPr>
          <a:xfrm>
            <a:off x="514350" y="1876658"/>
            <a:ext cx="3400425"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333333"/>
                </a:solidFill>
              </a:rPr>
              <a:t>Entry-level, high-volume products designed for price-sensitive customers seeking affordable fashion options.</a:t>
            </a:r>
            <a:endParaRPr lang="en-US" sz="1000" dirty="0"/>
          </a:p>
        </p:txBody>
      </p:sp>
      <p:sp>
        <p:nvSpPr>
          <p:cNvPr id="13" name="Shape 10"/>
          <p:cNvSpPr/>
          <p:nvPr/>
        </p:nvSpPr>
        <p:spPr>
          <a:xfrm>
            <a:off x="428625" y="2330955"/>
            <a:ext cx="3571875" cy="927571"/>
          </a:xfrm>
          <a:prstGeom prst="rect">
            <a:avLst/>
          </a:prstGeom>
          <a:solidFill>
            <a:srgbClr val="FFF5F0"/>
          </a:solidFill>
          <a:ln/>
        </p:spPr>
        <p:txBody>
          <a:bodyPr/>
          <a:lstStyle/>
          <a:p>
            <a:endParaRPr lang="en-US" sz="2800"/>
          </a:p>
        </p:txBody>
      </p:sp>
      <p:sp>
        <p:nvSpPr>
          <p:cNvPr id="14" name="Shape 11"/>
          <p:cNvSpPr/>
          <p:nvPr/>
        </p:nvSpPr>
        <p:spPr>
          <a:xfrm>
            <a:off x="428625" y="2330955"/>
            <a:ext cx="3571875" cy="14288"/>
          </a:xfrm>
          <a:prstGeom prst="rect">
            <a:avLst/>
          </a:prstGeom>
          <a:solidFill>
            <a:srgbClr val="1A1A1A"/>
          </a:solidFill>
          <a:ln/>
        </p:spPr>
        <p:txBody>
          <a:bodyPr/>
          <a:lstStyle/>
          <a:p>
            <a:endParaRPr lang="en-US" sz="2800"/>
          </a:p>
        </p:txBody>
      </p:sp>
      <p:sp>
        <p:nvSpPr>
          <p:cNvPr id="15" name="Shape 12"/>
          <p:cNvSpPr/>
          <p:nvPr/>
        </p:nvSpPr>
        <p:spPr>
          <a:xfrm>
            <a:off x="3986213" y="2330955"/>
            <a:ext cx="14288" cy="927571"/>
          </a:xfrm>
          <a:prstGeom prst="rect">
            <a:avLst/>
          </a:prstGeom>
          <a:solidFill>
            <a:srgbClr val="1A1A1A"/>
          </a:solidFill>
          <a:ln/>
        </p:spPr>
        <p:txBody>
          <a:bodyPr/>
          <a:lstStyle/>
          <a:p>
            <a:endParaRPr lang="en-US" sz="2800"/>
          </a:p>
        </p:txBody>
      </p:sp>
      <p:sp>
        <p:nvSpPr>
          <p:cNvPr id="16" name="Shape 13"/>
          <p:cNvSpPr/>
          <p:nvPr/>
        </p:nvSpPr>
        <p:spPr>
          <a:xfrm>
            <a:off x="428625" y="3244239"/>
            <a:ext cx="3571875" cy="14288"/>
          </a:xfrm>
          <a:prstGeom prst="rect">
            <a:avLst/>
          </a:prstGeom>
          <a:solidFill>
            <a:srgbClr val="1A1A1A"/>
          </a:solidFill>
          <a:ln/>
        </p:spPr>
        <p:txBody>
          <a:bodyPr/>
          <a:lstStyle/>
          <a:p>
            <a:endParaRPr lang="en-US" sz="2800"/>
          </a:p>
        </p:txBody>
      </p:sp>
      <p:sp>
        <p:nvSpPr>
          <p:cNvPr id="17" name="Shape 14"/>
          <p:cNvSpPr/>
          <p:nvPr/>
        </p:nvSpPr>
        <p:spPr>
          <a:xfrm>
            <a:off x="428625" y="2330955"/>
            <a:ext cx="42863" cy="927571"/>
          </a:xfrm>
          <a:prstGeom prst="rect">
            <a:avLst/>
          </a:prstGeom>
          <a:solidFill>
            <a:srgbClr val="C44D58"/>
          </a:solidFill>
          <a:ln/>
        </p:spPr>
        <p:txBody>
          <a:bodyPr/>
          <a:lstStyle/>
          <a:p>
            <a:endParaRPr lang="en-US" sz="2800"/>
          </a:p>
        </p:txBody>
      </p:sp>
      <p:sp>
        <p:nvSpPr>
          <p:cNvPr id="18" name="Text 15"/>
          <p:cNvSpPr/>
          <p:nvPr/>
        </p:nvSpPr>
        <p:spPr>
          <a:xfrm>
            <a:off x="514350" y="2416680"/>
            <a:ext cx="856004"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A1A1A"/>
                </a:solidFill>
              </a:rPr>
              <a:t>Mid-Range Tier</a:t>
            </a:r>
            <a:endParaRPr lang="en-US" sz="1050" dirty="0"/>
          </a:p>
        </p:txBody>
      </p:sp>
      <p:sp>
        <p:nvSpPr>
          <p:cNvPr id="19" name="Text 16"/>
          <p:cNvSpPr/>
          <p:nvPr/>
        </p:nvSpPr>
        <p:spPr>
          <a:xfrm>
            <a:off x="514350" y="2648852"/>
            <a:ext cx="769441" cy="117020"/>
          </a:xfrm>
          <a:prstGeom prst="rect">
            <a:avLst/>
          </a:prstGeom>
          <a:noFill/>
          <a:ln/>
        </p:spPr>
        <p:txBody>
          <a:bodyPr wrap="none" lIns="0" tIns="0" rIns="0" bIns="0" rtlCol="0" anchor="t">
            <a:spAutoFit/>
          </a:bodyPr>
          <a:lstStyle/>
          <a:p>
            <a:pPr marL="0" indent="0" algn="l">
              <a:lnSpc>
                <a:spcPts val="900"/>
              </a:lnSpc>
              <a:buNone/>
            </a:pPr>
            <a:r>
              <a:rPr lang="en-US" sz="900" b="1" dirty="0">
                <a:solidFill>
                  <a:srgbClr val="C44D58"/>
                </a:solidFill>
              </a:rPr>
              <a:t>Rs 1,000 – 3,000</a:t>
            </a:r>
            <a:endParaRPr lang="en-US" sz="900" dirty="0"/>
          </a:p>
        </p:txBody>
      </p:sp>
      <p:sp>
        <p:nvSpPr>
          <p:cNvPr id="20" name="Text 17"/>
          <p:cNvSpPr/>
          <p:nvPr/>
        </p:nvSpPr>
        <p:spPr>
          <a:xfrm>
            <a:off x="514350" y="2847091"/>
            <a:ext cx="3400425"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333333"/>
                </a:solidFill>
              </a:rPr>
              <a:t>Core customer segment products offering balanced quality and price, representing the largest market segment.</a:t>
            </a:r>
            <a:endParaRPr lang="en-US" sz="1000" dirty="0"/>
          </a:p>
        </p:txBody>
      </p:sp>
      <p:sp>
        <p:nvSpPr>
          <p:cNvPr id="21" name="Shape 18"/>
          <p:cNvSpPr/>
          <p:nvPr/>
        </p:nvSpPr>
        <p:spPr>
          <a:xfrm>
            <a:off x="428625" y="3301389"/>
            <a:ext cx="3571875" cy="927571"/>
          </a:xfrm>
          <a:prstGeom prst="rect">
            <a:avLst/>
          </a:prstGeom>
          <a:solidFill>
            <a:srgbClr val="F5F0F8"/>
          </a:solidFill>
          <a:ln/>
        </p:spPr>
        <p:txBody>
          <a:bodyPr/>
          <a:lstStyle/>
          <a:p>
            <a:endParaRPr lang="en-US" sz="2800"/>
          </a:p>
        </p:txBody>
      </p:sp>
      <p:sp>
        <p:nvSpPr>
          <p:cNvPr id="22" name="Shape 19"/>
          <p:cNvSpPr/>
          <p:nvPr/>
        </p:nvSpPr>
        <p:spPr>
          <a:xfrm>
            <a:off x="428625" y="3301389"/>
            <a:ext cx="3571875" cy="14288"/>
          </a:xfrm>
          <a:prstGeom prst="rect">
            <a:avLst/>
          </a:prstGeom>
          <a:solidFill>
            <a:srgbClr val="1A1A1A"/>
          </a:solidFill>
          <a:ln/>
        </p:spPr>
        <p:txBody>
          <a:bodyPr/>
          <a:lstStyle/>
          <a:p>
            <a:endParaRPr lang="en-US" sz="2800"/>
          </a:p>
        </p:txBody>
      </p:sp>
      <p:sp>
        <p:nvSpPr>
          <p:cNvPr id="23" name="Shape 20"/>
          <p:cNvSpPr/>
          <p:nvPr/>
        </p:nvSpPr>
        <p:spPr>
          <a:xfrm>
            <a:off x="3986213" y="3301389"/>
            <a:ext cx="14288" cy="927571"/>
          </a:xfrm>
          <a:prstGeom prst="rect">
            <a:avLst/>
          </a:prstGeom>
          <a:solidFill>
            <a:srgbClr val="1A1A1A"/>
          </a:solidFill>
          <a:ln/>
        </p:spPr>
        <p:txBody>
          <a:bodyPr/>
          <a:lstStyle/>
          <a:p>
            <a:endParaRPr lang="en-US" sz="2800"/>
          </a:p>
        </p:txBody>
      </p:sp>
      <p:sp>
        <p:nvSpPr>
          <p:cNvPr id="24" name="Shape 21"/>
          <p:cNvSpPr/>
          <p:nvPr/>
        </p:nvSpPr>
        <p:spPr>
          <a:xfrm>
            <a:off x="428625" y="4214673"/>
            <a:ext cx="3571875" cy="14288"/>
          </a:xfrm>
          <a:prstGeom prst="rect">
            <a:avLst/>
          </a:prstGeom>
          <a:solidFill>
            <a:srgbClr val="1A1A1A"/>
          </a:solidFill>
          <a:ln/>
        </p:spPr>
        <p:txBody>
          <a:bodyPr/>
          <a:lstStyle/>
          <a:p>
            <a:endParaRPr lang="en-US" sz="2800"/>
          </a:p>
        </p:txBody>
      </p:sp>
      <p:sp>
        <p:nvSpPr>
          <p:cNvPr id="25" name="Shape 22"/>
          <p:cNvSpPr/>
          <p:nvPr/>
        </p:nvSpPr>
        <p:spPr>
          <a:xfrm>
            <a:off x="428625" y="3301389"/>
            <a:ext cx="42863" cy="927571"/>
          </a:xfrm>
          <a:prstGeom prst="rect">
            <a:avLst/>
          </a:prstGeom>
          <a:solidFill>
            <a:srgbClr val="C44D58"/>
          </a:solidFill>
          <a:ln/>
        </p:spPr>
        <p:txBody>
          <a:bodyPr/>
          <a:lstStyle/>
          <a:p>
            <a:endParaRPr lang="en-US" sz="2800"/>
          </a:p>
        </p:txBody>
      </p:sp>
      <p:sp>
        <p:nvSpPr>
          <p:cNvPr id="26" name="Text 23"/>
          <p:cNvSpPr/>
          <p:nvPr/>
        </p:nvSpPr>
        <p:spPr>
          <a:xfrm>
            <a:off x="514350" y="3387114"/>
            <a:ext cx="758221"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A1A1A"/>
                </a:solidFill>
              </a:rPr>
              <a:t>Premium Tier</a:t>
            </a:r>
            <a:endParaRPr lang="en-US" sz="1050" dirty="0"/>
          </a:p>
        </p:txBody>
      </p:sp>
      <p:sp>
        <p:nvSpPr>
          <p:cNvPr id="27" name="Text 24"/>
          <p:cNvSpPr/>
          <p:nvPr/>
        </p:nvSpPr>
        <p:spPr>
          <a:xfrm>
            <a:off x="514350" y="3619286"/>
            <a:ext cx="482504" cy="117020"/>
          </a:xfrm>
          <a:prstGeom prst="rect">
            <a:avLst/>
          </a:prstGeom>
          <a:noFill/>
          <a:ln/>
        </p:spPr>
        <p:txBody>
          <a:bodyPr wrap="none" lIns="0" tIns="0" rIns="0" bIns="0" rtlCol="0" anchor="t">
            <a:spAutoFit/>
          </a:bodyPr>
          <a:lstStyle/>
          <a:p>
            <a:pPr marL="0" indent="0" algn="l">
              <a:lnSpc>
                <a:spcPts val="900"/>
              </a:lnSpc>
              <a:buNone/>
            </a:pPr>
            <a:r>
              <a:rPr lang="en-US" sz="900" b="1" dirty="0">
                <a:solidFill>
                  <a:srgbClr val="C44D58"/>
                </a:solidFill>
              </a:rPr>
              <a:t>&gt; Rs 3,000</a:t>
            </a:r>
            <a:endParaRPr lang="en-US" sz="900" dirty="0"/>
          </a:p>
        </p:txBody>
      </p:sp>
      <p:sp>
        <p:nvSpPr>
          <p:cNvPr id="28" name="Text 25"/>
          <p:cNvSpPr/>
          <p:nvPr/>
        </p:nvSpPr>
        <p:spPr>
          <a:xfrm>
            <a:off x="514350" y="3817525"/>
            <a:ext cx="3400425"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333333"/>
                </a:solidFill>
              </a:rPr>
              <a:t>High-value, luxury products targeting affluent customers seeking premium quality and exclusive designs.</a:t>
            </a:r>
            <a:endParaRPr lang="en-US" sz="1000" dirty="0"/>
          </a:p>
        </p:txBody>
      </p:sp>
      <p:sp>
        <p:nvSpPr>
          <p:cNvPr id="29" name="Shape 26"/>
          <p:cNvSpPr/>
          <p:nvPr/>
        </p:nvSpPr>
        <p:spPr>
          <a:xfrm>
            <a:off x="428625" y="4343260"/>
            <a:ext cx="3571875" cy="811457"/>
          </a:xfrm>
          <a:prstGeom prst="rect">
            <a:avLst/>
          </a:prstGeom>
          <a:solidFill>
            <a:srgbClr val="FFFFFF"/>
          </a:solidFill>
          <a:ln w="18288">
            <a:solidFill>
              <a:srgbClr val="1A1A1A"/>
            </a:solidFill>
            <a:prstDash val="solid"/>
          </a:ln>
        </p:spPr>
        <p:txBody>
          <a:bodyPr/>
          <a:lstStyle/>
          <a:p>
            <a:endParaRPr lang="en-US" sz="2800"/>
          </a:p>
        </p:txBody>
      </p:sp>
      <p:sp>
        <p:nvSpPr>
          <p:cNvPr id="30" name="Text 27"/>
          <p:cNvSpPr/>
          <p:nvPr/>
        </p:nvSpPr>
        <p:spPr>
          <a:xfrm>
            <a:off x="500063" y="4423377"/>
            <a:ext cx="564257" cy="136256"/>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C44D58"/>
                </a:solidFill>
              </a:rPr>
              <a:t>Key Metrics</a:t>
            </a:r>
            <a:endParaRPr lang="en-US" sz="900" dirty="0"/>
          </a:p>
        </p:txBody>
      </p:sp>
      <p:sp>
        <p:nvSpPr>
          <p:cNvPr id="31" name="Text 28"/>
          <p:cNvSpPr/>
          <p:nvPr/>
        </p:nvSpPr>
        <p:spPr>
          <a:xfrm>
            <a:off x="500063" y="4617681"/>
            <a:ext cx="2935099"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 Product count per tier for market composition analysis</a:t>
            </a:r>
            <a:endParaRPr lang="en-US" sz="1000" dirty="0"/>
          </a:p>
        </p:txBody>
      </p:sp>
      <p:sp>
        <p:nvSpPr>
          <p:cNvPr id="32" name="Text 29"/>
          <p:cNvSpPr/>
          <p:nvPr/>
        </p:nvSpPr>
        <p:spPr>
          <a:xfrm>
            <a:off x="500063" y="4766249"/>
            <a:ext cx="2410916"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 Average price per tier for market positioning</a:t>
            </a:r>
            <a:endParaRPr lang="en-US" sz="1000" dirty="0"/>
          </a:p>
        </p:txBody>
      </p:sp>
      <p:sp>
        <p:nvSpPr>
          <p:cNvPr id="33" name="Text 30"/>
          <p:cNvSpPr/>
          <p:nvPr/>
        </p:nvSpPr>
        <p:spPr>
          <a:xfrm>
            <a:off x="500063" y="4914816"/>
            <a:ext cx="2014975" cy="153888"/>
          </a:xfrm>
          <a:prstGeom prst="rect">
            <a:avLst/>
          </a:prstGeom>
          <a:noFill/>
          <a:ln/>
        </p:spPr>
        <p:txBody>
          <a:bodyPr wrap="none" lIns="0" tIns="0" rIns="0" bIns="0" rtlCol="0" anchor="t">
            <a:spAutoFit/>
          </a:bodyPr>
          <a:lstStyle/>
          <a:p>
            <a:pPr marL="0" indent="0" algn="l">
              <a:lnSpc>
                <a:spcPts val="1200"/>
              </a:lnSpc>
              <a:buNone/>
            </a:pPr>
            <a:r>
              <a:rPr lang="en-US" sz="1000" dirty="0">
                <a:solidFill>
                  <a:srgbClr val="333333"/>
                </a:solidFill>
              </a:rPr>
              <a:t>• Informs marketing and sales strategy</a:t>
            </a:r>
            <a:endParaRPr lang="en-US" sz="1000" dirty="0"/>
          </a:p>
        </p:txBody>
      </p:sp>
      <p:sp>
        <p:nvSpPr>
          <p:cNvPr id="34" name="Text 31"/>
          <p:cNvSpPr/>
          <p:nvPr/>
        </p:nvSpPr>
        <p:spPr>
          <a:xfrm>
            <a:off x="5000625" y="995939"/>
            <a:ext cx="1506695" cy="171907"/>
          </a:xfrm>
          <a:prstGeom prst="rect">
            <a:avLst/>
          </a:prstGeom>
          <a:noFill/>
          <a:ln/>
        </p:spPr>
        <p:txBody>
          <a:bodyPr wrap="none" lIns="0" tIns="0" rIns="0" bIns="0" rtlCol="0" anchor="t">
            <a:spAutoFit/>
          </a:bodyPr>
          <a:lstStyle/>
          <a:p>
            <a:pPr marL="0" indent="0" algn="l">
              <a:lnSpc>
                <a:spcPts val="1400"/>
              </a:lnSpc>
              <a:buNone/>
            </a:pPr>
            <a:r>
              <a:rPr lang="en-US" sz="1100" b="1" kern="0" spc="1" dirty="0">
                <a:solidFill>
                  <a:srgbClr val="1A1A1A"/>
                </a:solidFill>
              </a:rPr>
              <a:t>Incremental Data Loading</a:t>
            </a:r>
            <a:endParaRPr lang="en-US" sz="1100" dirty="0"/>
          </a:p>
        </p:txBody>
      </p:sp>
      <p:sp>
        <p:nvSpPr>
          <p:cNvPr id="35" name="Text 32"/>
          <p:cNvSpPr/>
          <p:nvPr/>
        </p:nvSpPr>
        <p:spPr>
          <a:xfrm>
            <a:off x="5000625" y="1369200"/>
            <a:ext cx="155492" cy="254365"/>
          </a:xfrm>
          <a:prstGeom prst="rect">
            <a:avLst/>
          </a:prstGeom>
          <a:noFill/>
          <a:ln/>
        </p:spPr>
        <p:txBody>
          <a:bodyPr wrap="none" lIns="0" tIns="0" rIns="0" bIns="0" rtlCol="0" anchor="t">
            <a:spAutoFit/>
          </a:bodyPr>
          <a:lstStyle/>
          <a:p>
            <a:pPr marL="0" indent="0" algn="l">
              <a:lnSpc>
                <a:spcPts val="1800"/>
              </a:lnSpc>
              <a:buNone/>
            </a:pPr>
            <a:r>
              <a:rPr lang="en-US" sz="2400" b="1" dirty="0">
                <a:solidFill>
                  <a:srgbClr val="C44D58"/>
                </a:solidFill>
              </a:rPr>
              <a:t>1</a:t>
            </a:r>
            <a:endParaRPr lang="en-US" sz="2400" dirty="0"/>
          </a:p>
        </p:txBody>
      </p:sp>
      <p:sp>
        <p:nvSpPr>
          <p:cNvPr id="36" name="Text 33"/>
          <p:cNvSpPr/>
          <p:nvPr/>
        </p:nvSpPr>
        <p:spPr>
          <a:xfrm>
            <a:off x="5464969" y="1369200"/>
            <a:ext cx="1096454"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1A1A1A"/>
                </a:solidFill>
              </a:rPr>
              <a:t>Create Test Data File</a:t>
            </a:r>
            <a:endParaRPr lang="en-US" sz="1000" dirty="0"/>
          </a:p>
        </p:txBody>
      </p:sp>
      <p:sp>
        <p:nvSpPr>
          <p:cNvPr id="37" name="Text 34"/>
          <p:cNvSpPr/>
          <p:nvPr/>
        </p:nvSpPr>
        <p:spPr>
          <a:xfrm>
            <a:off x="5464969" y="1560295"/>
            <a:ext cx="3393281" cy="461665"/>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333333"/>
                </a:solidFill>
              </a:rPr>
              <a:t>Small new data file created with same format/columns as original dataset but with handful of rows and new data to simulate incoming data.</a:t>
            </a:r>
            <a:endParaRPr lang="en-US" sz="1000" dirty="0"/>
          </a:p>
        </p:txBody>
      </p:sp>
      <p:sp>
        <p:nvSpPr>
          <p:cNvPr id="38" name="Text 35"/>
          <p:cNvSpPr/>
          <p:nvPr/>
        </p:nvSpPr>
        <p:spPr>
          <a:xfrm>
            <a:off x="5000625" y="2143181"/>
            <a:ext cx="155492" cy="254365"/>
          </a:xfrm>
          <a:prstGeom prst="rect">
            <a:avLst/>
          </a:prstGeom>
          <a:noFill/>
          <a:ln/>
        </p:spPr>
        <p:txBody>
          <a:bodyPr wrap="none" lIns="0" tIns="0" rIns="0" bIns="0" rtlCol="0" anchor="t">
            <a:spAutoFit/>
          </a:bodyPr>
          <a:lstStyle/>
          <a:p>
            <a:pPr marL="0" indent="0" algn="l">
              <a:lnSpc>
                <a:spcPts val="1800"/>
              </a:lnSpc>
              <a:buNone/>
            </a:pPr>
            <a:r>
              <a:rPr lang="en-US" sz="2400" b="1" dirty="0">
                <a:solidFill>
                  <a:srgbClr val="C44D58"/>
                </a:solidFill>
              </a:rPr>
              <a:t>2</a:t>
            </a:r>
            <a:endParaRPr lang="en-US" sz="2400" dirty="0"/>
          </a:p>
        </p:txBody>
      </p:sp>
      <p:sp>
        <p:nvSpPr>
          <p:cNvPr id="39" name="Text 36"/>
          <p:cNvSpPr/>
          <p:nvPr/>
        </p:nvSpPr>
        <p:spPr>
          <a:xfrm>
            <a:off x="5464969" y="2143181"/>
            <a:ext cx="1676741"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1A1A1A"/>
                </a:solidFill>
              </a:rPr>
              <a:t>Implement Loading Mechanism</a:t>
            </a:r>
            <a:endParaRPr lang="en-US" sz="1000" dirty="0"/>
          </a:p>
        </p:txBody>
      </p:sp>
      <p:sp>
        <p:nvSpPr>
          <p:cNvPr id="40" name="Text 37"/>
          <p:cNvSpPr/>
          <p:nvPr/>
        </p:nvSpPr>
        <p:spPr>
          <a:xfrm>
            <a:off x="5464969" y="2334276"/>
            <a:ext cx="3393281" cy="461665"/>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333333"/>
                </a:solidFill>
              </a:rPr>
              <a:t>Appropriate mechanism (e.g., Snowflake Stream/Task or manual execution) to load incremental data automatically into Bronze layer.</a:t>
            </a:r>
            <a:endParaRPr lang="en-US" sz="1000" dirty="0"/>
          </a:p>
        </p:txBody>
      </p:sp>
      <p:sp>
        <p:nvSpPr>
          <p:cNvPr id="41" name="Text 38"/>
          <p:cNvSpPr/>
          <p:nvPr/>
        </p:nvSpPr>
        <p:spPr>
          <a:xfrm>
            <a:off x="5000625" y="2917161"/>
            <a:ext cx="155492" cy="254365"/>
          </a:xfrm>
          <a:prstGeom prst="rect">
            <a:avLst/>
          </a:prstGeom>
          <a:noFill/>
          <a:ln/>
        </p:spPr>
        <p:txBody>
          <a:bodyPr wrap="none" lIns="0" tIns="0" rIns="0" bIns="0" rtlCol="0" anchor="t">
            <a:spAutoFit/>
          </a:bodyPr>
          <a:lstStyle/>
          <a:p>
            <a:pPr marL="0" indent="0" algn="l">
              <a:lnSpc>
                <a:spcPts val="1800"/>
              </a:lnSpc>
              <a:buNone/>
            </a:pPr>
            <a:r>
              <a:rPr lang="en-US" sz="2400" b="1" dirty="0">
                <a:solidFill>
                  <a:srgbClr val="C44D58"/>
                </a:solidFill>
              </a:rPr>
              <a:t>3</a:t>
            </a:r>
            <a:endParaRPr lang="en-US" sz="2400" dirty="0"/>
          </a:p>
        </p:txBody>
      </p:sp>
      <p:sp>
        <p:nvSpPr>
          <p:cNvPr id="42" name="Text 39"/>
          <p:cNvSpPr/>
          <p:nvPr/>
        </p:nvSpPr>
        <p:spPr>
          <a:xfrm>
            <a:off x="5464969" y="2917161"/>
            <a:ext cx="1482778"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1A1A1A"/>
                </a:solidFill>
              </a:rPr>
              <a:t>Update Silver &amp; Gold Layers</a:t>
            </a:r>
            <a:endParaRPr lang="en-US" sz="1000" dirty="0"/>
          </a:p>
        </p:txBody>
      </p:sp>
      <p:sp>
        <p:nvSpPr>
          <p:cNvPr id="43" name="Text 40"/>
          <p:cNvSpPr/>
          <p:nvPr/>
        </p:nvSpPr>
        <p:spPr>
          <a:xfrm>
            <a:off x="5464969" y="3108257"/>
            <a:ext cx="3393281"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333333"/>
                </a:solidFill>
              </a:rPr>
              <a:t>Execute SQL to propagate new data through Silver layer transformations and into Gold layer aggregations.</a:t>
            </a:r>
            <a:endParaRPr lang="en-US" sz="1000" dirty="0"/>
          </a:p>
        </p:txBody>
      </p:sp>
      <p:sp>
        <p:nvSpPr>
          <p:cNvPr id="44" name="Text 41"/>
          <p:cNvSpPr/>
          <p:nvPr/>
        </p:nvSpPr>
        <p:spPr>
          <a:xfrm>
            <a:off x="5000625" y="3691142"/>
            <a:ext cx="155492" cy="254365"/>
          </a:xfrm>
          <a:prstGeom prst="rect">
            <a:avLst/>
          </a:prstGeom>
          <a:noFill/>
          <a:ln/>
        </p:spPr>
        <p:txBody>
          <a:bodyPr wrap="none" lIns="0" tIns="0" rIns="0" bIns="0" rtlCol="0" anchor="t">
            <a:spAutoFit/>
          </a:bodyPr>
          <a:lstStyle/>
          <a:p>
            <a:pPr marL="0" indent="0" algn="l">
              <a:lnSpc>
                <a:spcPts val="1800"/>
              </a:lnSpc>
              <a:buNone/>
            </a:pPr>
            <a:r>
              <a:rPr lang="en-US" sz="2400" b="1" dirty="0">
                <a:solidFill>
                  <a:srgbClr val="C44D58"/>
                </a:solidFill>
              </a:rPr>
              <a:t>4</a:t>
            </a:r>
            <a:endParaRPr lang="en-US" sz="2400" dirty="0"/>
          </a:p>
        </p:txBody>
      </p:sp>
      <p:sp>
        <p:nvSpPr>
          <p:cNvPr id="45" name="Text 42"/>
          <p:cNvSpPr/>
          <p:nvPr/>
        </p:nvSpPr>
        <p:spPr>
          <a:xfrm>
            <a:off x="5464969" y="3691142"/>
            <a:ext cx="1404231"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1A1A1A"/>
                </a:solidFill>
              </a:rPr>
              <a:t>Verification &amp; Comparison</a:t>
            </a:r>
            <a:endParaRPr lang="en-US" sz="1000" dirty="0"/>
          </a:p>
        </p:txBody>
      </p:sp>
      <p:sp>
        <p:nvSpPr>
          <p:cNvPr id="46" name="Text 43"/>
          <p:cNvSpPr/>
          <p:nvPr/>
        </p:nvSpPr>
        <p:spPr>
          <a:xfrm>
            <a:off x="5464969" y="3882237"/>
            <a:ext cx="3393281"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333333"/>
                </a:solidFill>
              </a:rPr>
              <a:t>Compare row counts in Silver and Gold datasets before/after to verify incremental data loaded properly and metrics updated.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428625"/>
            <a:ext cx="3571875" cy="1060547"/>
          </a:xfrm>
          <a:prstGeom prst="rect">
            <a:avLst/>
          </a:prstGeom>
          <a:noFill/>
          <a:ln/>
        </p:spPr>
        <p:txBody>
          <a:bodyPr wrap="square" lIns="0" tIns="0" rIns="0" bIns="0" rtlCol="0" anchor="t">
            <a:spAutoFit/>
          </a:bodyPr>
          <a:lstStyle/>
          <a:p>
            <a:pPr marL="0" indent="0" algn="l">
              <a:lnSpc>
                <a:spcPts val="2700"/>
              </a:lnSpc>
              <a:buNone/>
            </a:pPr>
            <a:r>
              <a:rPr lang="en-US" sz="3200" b="1" dirty="0">
                <a:solidFill>
                  <a:srgbClr val="1A1A1A"/>
                </a:solidFill>
              </a:rPr>
              <a:t>New Value: Interactive Gold Layer Dashboard</a:t>
            </a:r>
            <a:endParaRPr lang="en-US" sz="3200" dirty="0"/>
          </a:p>
        </p:txBody>
      </p:sp>
      <p:sp>
        <p:nvSpPr>
          <p:cNvPr id="4" name="Text 1"/>
          <p:cNvSpPr/>
          <p:nvPr/>
        </p:nvSpPr>
        <p:spPr>
          <a:xfrm>
            <a:off x="428625" y="1507331"/>
            <a:ext cx="258597" cy="153888"/>
          </a:xfrm>
          <a:prstGeom prst="rect">
            <a:avLst/>
          </a:prstGeom>
          <a:noFill/>
          <a:ln/>
        </p:spPr>
        <p:txBody>
          <a:bodyPr wrap="none" lIns="0" tIns="0" rIns="0" bIns="0" rtlCol="0" anchor="t">
            <a:spAutoFit/>
          </a:bodyPr>
          <a:lstStyle/>
          <a:p>
            <a:pPr marL="0" indent="0" algn="l">
              <a:lnSpc>
                <a:spcPts val="1200"/>
              </a:lnSpc>
              <a:buNone/>
            </a:pPr>
            <a:r>
              <a:rPr lang="en-US" sz="1050" b="1" kern="0" spc="1" dirty="0">
                <a:solidFill>
                  <a:srgbClr val="1A1A1A"/>
                </a:solidFill>
              </a:rPr>
              <a:t>Goal</a:t>
            </a:r>
            <a:endParaRPr lang="en-US" sz="1050" dirty="0"/>
          </a:p>
        </p:txBody>
      </p:sp>
      <p:sp>
        <p:nvSpPr>
          <p:cNvPr id="5" name="Text 2"/>
          <p:cNvSpPr/>
          <p:nvPr/>
        </p:nvSpPr>
        <p:spPr>
          <a:xfrm>
            <a:off x="428625" y="1789509"/>
            <a:ext cx="3571875" cy="562846"/>
          </a:xfrm>
          <a:prstGeom prst="rect">
            <a:avLst/>
          </a:prstGeom>
          <a:noFill/>
          <a:ln/>
        </p:spPr>
        <p:txBody>
          <a:bodyPr wrap="square" lIns="0" tIns="0" rIns="0" bIns="0" rtlCol="0" anchor="t">
            <a:spAutoFit/>
          </a:bodyPr>
          <a:lstStyle/>
          <a:p>
            <a:pPr marL="0" indent="0" algn="l">
              <a:lnSpc>
                <a:spcPts val="1500"/>
              </a:lnSpc>
              <a:buNone/>
            </a:pPr>
            <a:r>
              <a:rPr lang="en-US" sz="1000" dirty="0">
                <a:solidFill>
                  <a:srgbClr val="333333"/>
                </a:solidFill>
              </a:rPr>
              <a:t>Provide a single, accessible view for key business metrics and insights derived from the Gold Layer, enabling stakeholders to make data-driven decisions without requiring SQL expertise.</a:t>
            </a:r>
            <a:endParaRPr lang="en-US" sz="1000" dirty="0"/>
          </a:p>
        </p:txBody>
      </p:sp>
      <p:sp>
        <p:nvSpPr>
          <p:cNvPr id="6" name="Shape 3"/>
          <p:cNvSpPr/>
          <p:nvPr/>
        </p:nvSpPr>
        <p:spPr>
          <a:xfrm>
            <a:off x="428625" y="2511028"/>
            <a:ext cx="3571875" cy="1450516"/>
          </a:xfrm>
          <a:prstGeom prst="rect">
            <a:avLst/>
          </a:prstGeom>
          <a:solidFill>
            <a:srgbClr val="FFFFFF"/>
          </a:solidFill>
          <a:ln w="18288">
            <a:solidFill>
              <a:srgbClr val="1A1A1A"/>
            </a:solidFill>
            <a:prstDash val="solid"/>
          </a:ln>
        </p:spPr>
        <p:txBody>
          <a:bodyPr/>
          <a:lstStyle/>
          <a:p>
            <a:endParaRPr lang="en-US" sz="2800"/>
          </a:p>
        </p:txBody>
      </p:sp>
      <p:sp>
        <p:nvSpPr>
          <p:cNvPr id="7" name="Text 4"/>
          <p:cNvSpPr/>
          <p:nvPr/>
        </p:nvSpPr>
        <p:spPr>
          <a:xfrm>
            <a:off x="571500" y="2653903"/>
            <a:ext cx="835613" cy="107402"/>
          </a:xfrm>
          <a:prstGeom prst="rect">
            <a:avLst/>
          </a:prstGeom>
          <a:noFill/>
          <a:ln/>
        </p:spPr>
        <p:txBody>
          <a:bodyPr wrap="none" lIns="0" tIns="0" rIns="0" bIns="0" rtlCol="0" anchor="t">
            <a:spAutoFit/>
          </a:bodyPr>
          <a:lstStyle/>
          <a:p>
            <a:pPr marL="0" indent="0" algn="l">
              <a:lnSpc>
                <a:spcPts val="800"/>
              </a:lnSpc>
              <a:buNone/>
            </a:pPr>
            <a:r>
              <a:rPr lang="en-US" sz="900" b="1" kern="0" spc="1" dirty="0">
                <a:solidFill>
                  <a:srgbClr val="C44D58"/>
                </a:solidFill>
              </a:rPr>
              <a:t>Technology Stack</a:t>
            </a:r>
            <a:endParaRPr lang="en-US" sz="900" dirty="0"/>
          </a:p>
        </p:txBody>
      </p:sp>
      <p:sp>
        <p:nvSpPr>
          <p:cNvPr id="8" name="Text 5"/>
          <p:cNvSpPr/>
          <p:nvPr/>
        </p:nvSpPr>
        <p:spPr>
          <a:xfrm>
            <a:off x="571500" y="2841427"/>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9" name="Text 6"/>
          <p:cNvSpPr/>
          <p:nvPr/>
        </p:nvSpPr>
        <p:spPr>
          <a:xfrm>
            <a:off x="714375" y="2862858"/>
            <a:ext cx="2348400"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Framework: Plotly (Interactive Visualizations)</a:t>
            </a:r>
            <a:endParaRPr lang="en-US" sz="1000" dirty="0"/>
          </a:p>
        </p:txBody>
      </p:sp>
      <p:sp>
        <p:nvSpPr>
          <p:cNvPr id="10" name="Text 7"/>
          <p:cNvSpPr/>
          <p:nvPr/>
        </p:nvSpPr>
        <p:spPr>
          <a:xfrm>
            <a:off x="571500" y="3078593"/>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11" name="Text 8"/>
          <p:cNvSpPr/>
          <p:nvPr/>
        </p:nvSpPr>
        <p:spPr>
          <a:xfrm>
            <a:off x="714375" y="3100025"/>
            <a:ext cx="2165657"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Format: Static HTML for easy deployment</a:t>
            </a:r>
            <a:endParaRPr lang="en-US" sz="1000" dirty="0"/>
          </a:p>
        </p:txBody>
      </p:sp>
      <p:sp>
        <p:nvSpPr>
          <p:cNvPr id="12" name="Text 9"/>
          <p:cNvSpPr/>
          <p:nvPr/>
        </p:nvSpPr>
        <p:spPr>
          <a:xfrm>
            <a:off x="571500" y="3315760"/>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13" name="Text 10"/>
          <p:cNvSpPr/>
          <p:nvPr/>
        </p:nvSpPr>
        <p:spPr>
          <a:xfrm>
            <a:off x="714375" y="3337192"/>
            <a:ext cx="1590179"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Data Source: Gold Layer tables</a:t>
            </a:r>
            <a:endParaRPr lang="en-US" sz="1000" dirty="0"/>
          </a:p>
        </p:txBody>
      </p:sp>
      <p:sp>
        <p:nvSpPr>
          <p:cNvPr id="14" name="Text 11"/>
          <p:cNvSpPr/>
          <p:nvPr/>
        </p:nvSpPr>
        <p:spPr>
          <a:xfrm>
            <a:off x="571500" y="3552927"/>
            <a:ext cx="44884"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C44D58"/>
                </a:solidFill>
              </a:rPr>
              <a:t>▪</a:t>
            </a:r>
            <a:endParaRPr lang="en-US" sz="1000" dirty="0"/>
          </a:p>
        </p:txBody>
      </p:sp>
      <p:sp>
        <p:nvSpPr>
          <p:cNvPr id="15" name="Text 12"/>
          <p:cNvSpPr/>
          <p:nvPr/>
        </p:nvSpPr>
        <p:spPr>
          <a:xfrm>
            <a:off x="714375" y="3574359"/>
            <a:ext cx="2268250" cy="168508"/>
          </a:xfrm>
          <a:prstGeom prst="rect">
            <a:avLst/>
          </a:prstGeom>
          <a:noFill/>
          <a:ln/>
        </p:spPr>
        <p:txBody>
          <a:bodyPr wrap="none" lIns="0" tIns="0" rIns="0" bIns="0" rtlCol="0" anchor="t">
            <a:spAutoFit/>
          </a:bodyPr>
          <a:lstStyle/>
          <a:p>
            <a:pPr marL="0" indent="0" algn="l">
              <a:lnSpc>
                <a:spcPts val="1400"/>
              </a:lnSpc>
              <a:buNone/>
            </a:pPr>
            <a:r>
              <a:rPr lang="en-US" sz="1000" dirty="0">
                <a:solidFill>
                  <a:srgbClr val="333333"/>
                </a:solidFill>
              </a:rPr>
              <a:t>Integration: Cortex Search &amp; Cortex Analyst</a:t>
            </a:r>
            <a:endParaRPr lang="en-US" sz="1000" dirty="0"/>
          </a:p>
        </p:txBody>
      </p:sp>
      <p:sp>
        <p:nvSpPr>
          <p:cNvPr id="16" name="Text 13"/>
          <p:cNvSpPr/>
          <p:nvPr/>
        </p:nvSpPr>
        <p:spPr>
          <a:xfrm>
            <a:off x="5000625" y="428625"/>
            <a:ext cx="721288" cy="153888"/>
          </a:xfrm>
          <a:prstGeom prst="rect">
            <a:avLst/>
          </a:prstGeom>
          <a:noFill/>
          <a:ln/>
        </p:spPr>
        <p:txBody>
          <a:bodyPr wrap="none" lIns="0" tIns="0" rIns="0" bIns="0" rtlCol="0" anchor="t">
            <a:spAutoFit/>
          </a:bodyPr>
          <a:lstStyle/>
          <a:p>
            <a:pPr marL="0" indent="0" algn="l">
              <a:lnSpc>
                <a:spcPts val="1200"/>
              </a:lnSpc>
              <a:buNone/>
            </a:pPr>
            <a:r>
              <a:rPr lang="en-US" sz="1050" b="1" kern="0" spc="1" dirty="0">
                <a:solidFill>
                  <a:srgbClr val="1A1A1A"/>
                </a:solidFill>
              </a:rPr>
              <a:t>Key Features</a:t>
            </a:r>
            <a:endParaRPr lang="en-US" sz="1050" dirty="0"/>
          </a:p>
        </p:txBody>
      </p:sp>
      <p:sp>
        <p:nvSpPr>
          <p:cNvPr id="17" name="Text 14"/>
          <p:cNvSpPr/>
          <p:nvPr/>
        </p:nvSpPr>
        <p:spPr>
          <a:xfrm>
            <a:off x="5000625" y="782241"/>
            <a:ext cx="117020" cy="214802"/>
          </a:xfrm>
          <a:prstGeom prst="rect">
            <a:avLst/>
          </a:prstGeom>
          <a:noFill/>
          <a:ln/>
        </p:spPr>
        <p:txBody>
          <a:bodyPr wrap="none" lIns="0" tIns="0" rIns="0" bIns="0" rtlCol="0" anchor="t">
            <a:spAutoFit/>
          </a:bodyPr>
          <a:lstStyle/>
          <a:p>
            <a:pPr marL="0" indent="0" algn="l">
              <a:lnSpc>
                <a:spcPts val="1600"/>
              </a:lnSpc>
              <a:buNone/>
            </a:pPr>
            <a:r>
              <a:rPr lang="en-US" b="1" dirty="0">
                <a:solidFill>
                  <a:srgbClr val="C44D58"/>
                </a:solidFill>
              </a:rPr>
              <a:t>1</a:t>
            </a:r>
            <a:endParaRPr lang="en-US" dirty="0"/>
          </a:p>
        </p:txBody>
      </p:sp>
      <p:sp>
        <p:nvSpPr>
          <p:cNvPr id="18" name="Text 15"/>
          <p:cNvSpPr/>
          <p:nvPr/>
        </p:nvSpPr>
        <p:spPr>
          <a:xfrm>
            <a:off x="5393531" y="782241"/>
            <a:ext cx="1285608"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1A1A1A"/>
                </a:solidFill>
              </a:rPr>
              <a:t>Core Gold Layer Reports</a:t>
            </a:r>
            <a:endParaRPr lang="en-US" sz="1000" dirty="0"/>
          </a:p>
        </p:txBody>
      </p:sp>
      <p:sp>
        <p:nvSpPr>
          <p:cNvPr id="19" name="Text 16"/>
          <p:cNvSpPr/>
          <p:nvPr/>
        </p:nvSpPr>
        <p:spPr>
          <a:xfrm>
            <a:off x="5393531" y="964406"/>
            <a:ext cx="3464719" cy="461665"/>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666666"/>
                </a:solidFill>
              </a:rPr>
              <a:t>Displays the 3 core Gold Layer reports: Brand Performance, Category Inventory, and Price Tier Analysis with interactive visualizations.</a:t>
            </a:r>
            <a:endParaRPr lang="en-US" sz="1000" dirty="0"/>
          </a:p>
        </p:txBody>
      </p:sp>
      <p:sp>
        <p:nvSpPr>
          <p:cNvPr id="20" name="Text 17"/>
          <p:cNvSpPr/>
          <p:nvPr/>
        </p:nvSpPr>
        <p:spPr>
          <a:xfrm>
            <a:off x="5000625" y="1440135"/>
            <a:ext cx="117020" cy="214802"/>
          </a:xfrm>
          <a:prstGeom prst="rect">
            <a:avLst/>
          </a:prstGeom>
          <a:noFill/>
          <a:ln/>
        </p:spPr>
        <p:txBody>
          <a:bodyPr wrap="none" lIns="0" tIns="0" rIns="0" bIns="0" rtlCol="0" anchor="t">
            <a:spAutoFit/>
          </a:bodyPr>
          <a:lstStyle/>
          <a:p>
            <a:pPr marL="0" indent="0" algn="l">
              <a:lnSpc>
                <a:spcPts val="1600"/>
              </a:lnSpc>
              <a:buNone/>
            </a:pPr>
            <a:r>
              <a:rPr lang="en-US" b="1" dirty="0">
                <a:solidFill>
                  <a:srgbClr val="C44D58"/>
                </a:solidFill>
              </a:rPr>
              <a:t>2</a:t>
            </a:r>
            <a:endParaRPr lang="en-US" dirty="0"/>
          </a:p>
        </p:txBody>
      </p:sp>
      <p:sp>
        <p:nvSpPr>
          <p:cNvPr id="21" name="Text 18"/>
          <p:cNvSpPr/>
          <p:nvPr/>
        </p:nvSpPr>
        <p:spPr>
          <a:xfrm>
            <a:off x="5393531" y="1440135"/>
            <a:ext cx="1433085"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1A1A1A"/>
                </a:solidFill>
              </a:rPr>
              <a:t>Cortex Services Integration</a:t>
            </a:r>
            <a:endParaRPr lang="en-US" sz="1000" dirty="0"/>
          </a:p>
        </p:txBody>
      </p:sp>
      <p:sp>
        <p:nvSpPr>
          <p:cNvPr id="22" name="Text 19"/>
          <p:cNvSpPr/>
          <p:nvPr/>
        </p:nvSpPr>
        <p:spPr>
          <a:xfrm>
            <a:off x="5393531" y="1622301"/>
            <a:ext cx="3464719"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666666"/>
                </a:solidFill>
              </a:rPr>
              <a:t>Includes dedicated sections for Cortex Search and Cortex Analyst with image placeholders for future AI-powered insights.</a:t>
            </a:r>
            <a:endParaRPr lang="en-US" sz="1000" dirty="0"/>
          </a:p>
        </p:txBody>
      </p:sp>
      <p:sp>
        <p:nvSpPr>
          <p:cNvPr id="23" name="Text 20"/>
          <p:cNvSpPr/>
          <p:nvPr/>
        </p:nvSpPr>
        <p:spPr>
          <a:xfrm>
            <a:off x="5000625" y="2098030"/>
            <a:ext cx="117020" cy="214802"/>
          </a:xfrm>
          <a:prstGeom prst="rect">
            <a:avLst/>
          </a:prstGeom>
          <a:noFill/>
          <a:ln/>
        </p:spPr>
        <p:txBody>
          <a:bodyPr wrap="none" lIns="0" tIns="0" rIns="0" bIns="0" rtlCol="0" anchor="t">
            <a:spAutoFit/>
          </a:bodyPr>
          <a:lstStyle/>
          <a:p>
            <a:pPr marL="0" indent="0" algn="l">
              <a:lnSpc>
                <a:spcPts val="1600"/>
              </a:lnSpc>
              <a:buNone/>
            </a:pPr>
            <a:r>
              <a:rPr lang="en-US" b="1" dirty="0">
                <a:solidFill>
                  <a:srgbClr val="C44D58"/>
                </a:solidFill>
              </a:rPr>
              <a:t>3</a:t>
            </a:r>
            <a:endParaRPr lang="en-US" dirty="0"/>
          </a:p>
        </p:txBody>
      </p:sp>
      <p:sp>
        <p:nvSpPr>
          <p:cNvPr id="24" name="Text 21"/>
          <p:cNvSpPr/>
          <p:nvPr/>
        </p:nvSpPr>
        <p:spPr>
          <a:xfrm>
            <a:off x="5393531" y="2098030"/>
            <a:ext cx="1126912"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1A1A1A"/>
                </a:solidFill>
              </a:rPr>
              <a:t>Self-Service Analytics</a:t>
            </a:r>
            <a:endParaRPr lang="en-US" sz="1000" dirty="0"/>
          </a:p>
        </p:txBody>
      </p:sp>
      <p:sp>
        <p:nvSpPr>
          <p:cNvPr id="25" name="Text 22"/>
          <p:cNvSpPr/>
          <p:nvPr/>
        </p:nvSpPr>
        <p:spPr>
          <a:xfrm>
            <a:off x="5393531" y="2280196"/>
            <a:ext cx="3464719"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666666"/>
                </a:solidFill>
              </a:rPr>
              <a:t>Empowers business users with immediate access to aggregated metrics and insights, reducing dependency on technical teams.</a:t>
            </a:r>
            <a:endParaRPr lang="en-US" sz="1000" dirty="0"/>
          </a:p>
        </p:txBody>
      </p:sp>
      <p:sp>
        <p:nvSpPr>
          <p:cNvPr id="26" name="Shape 23"/>
          <p:cNvSpPr/>
          <p:nvPr/>
        </p:nvSpPr>
        <p:spPr>
          <a:xfrm>
            <a:off x="5000625" y="2970237"/>
            <a:ext cx="3857625" cy="770409"/>
          </a:xfrm>
          <a:prstGeom prst="rect">
            <a:avLst/>
          </a:prstGeom>
          <a:solidFill>
            <a:srgbClr val="FFF9F7"/>
          </a:solidFill>
          <a:ln/>
        </p:spPr>
        <p:txBody>
          <a:bodyPr/>
          <a:lstStyle/>
          <a:p>
            <a:endParaRPr lang="en-US" sz="2800"/>
          </a:p>
        </p:txBody>
      </p:sp>
      <p:sp>
        <p:nvSpPr>
          <p:cNvPr id="27" name="Shape 24"/>
          <p:cNvSpPr/>
          <p:nvPr/>
        </p:nvSpPr>
        <p:spPr>
          <a:xfrm>
            <a:off x="5000625" y="2970237"/>
            <a:ext cx="28575" cy="770409"/>
          </a:xfrm>
          <a:prstGeom prst="rect">
            <a:avLst/>
          </a:prstGeom>
          <a:solidFill>
            <a:srgbClr val="C44D58"/>
          </a:solidFill>
          <a:ln/>
        </p:spPr>
        <p:txBody>
          <a:bodyPr/>
          <a:lstStyle/>
          <a:p>
            <a:endParaRPr lang="en-US" sz="2800"/>
          </a:p>
        </p:txBody>
      </p:sp>
      <p:sp>
        <p:nvSpPr>
          <p:cNvPr id="28" name="Text 25"/>
          <p:cNvSpPr/>
          <p:nvPr/>
        </p:nvSpPr>
        <p:spPr>
          <a:xfrm>
            <a:off x="5129213" y="3098825"/>
            <a:ext cx="776175" cy="107402"/>
          </a:xfrm>
          <a:prstGeom prst="rect">
            <a:avLst/>
          </a:prstGeom>
          <a:noFill/>
          <a:ln/>
        </p:spPr>
        <p:txBody>
          <a:bodyPr wrap="none" lIns="0" tIns="0" rIns="0" bIns="0" rtlCol="0" anchor="t">
            <a:spAutoFit/>
          </a:bodyPr>
          <a:lstStyle/>
          <a:p>
            <a:pPr marL="0" indent="0" algn="l">
              <a:lnSpc>
                <a:spcPts val="800"/>
              </a:lnSpc>
              <a:buNone/>
            </a:pPr>
            <a:r>
              <a:rPr lang="en-US" sz="900" b="1" kern="0" spc="1" dirty="0">
                <a:solidFill>
                  <a:srgbClr val="C44D58"/>
                </a:solidFill>
              </a:rPr>
              <a:t>Business Impact</a:t>
            </a:r>
            <a:endParaRPr lang="en-US" sz="900" dirty="0"/>
          </a:p>
        </p:txBody>
      </p:sp>
      <p:sp>
        <p:nvSpPr>
          <p:cNvPr id="29" name="Text 26"/>
          <p:cNvSpPr/>
          <p:nvPr/>
        </p:nvSpPr>
        <p:spPr>
          <a:xfrm>
            <a:off x="5129213" y="3272061"/>
            <a:ext cx="3600450" cy="492314"/>
          </a:xfrm>
          <a:prstGeom prst="rect">
            <a:avLst/>
          </a:prstGeom>
          <a:noFill/>
          <a:ln/>
        </p:spPr>
        <p:txBody>
          <a:bodyPr wrap="square" lIns="0" tIns="0" rIns="0" bIns="0" rtlCol="0" anchor="t">
            <a:spAutoFit/>
          </a:bodyPr>
          <a:lstStyle/>
          <a:p>
            <a:pPr marL="0" indent="0" algn="l">
              <a:lnSpc>
                <a:spcPts val="1300"/>
              </a:lnSpc>
              <a:buNone/>
            </a:pPr>
            <a:r>
              <a:rPr lang="en-US" sz="1000" dirty="0">
                <a:solidFill>
                  <a:srgbClr val="333333"/>
                </a:solidFill>
              </a:rPr>
              <a:t>Enables faster decision-making through accessible, real-time business intelligence and supports strategic initiatives with data-driven insights.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61331"/>
          </a:xfrm>
          <a:prstGeom prst="rect">
            <a:avLst/>
          </a:prstGeom>
        </p:spPr>
      </p:pic>
      <p:sp>
        <p:nvSpPr>
          <p:cNvPr id="3" name="Text 0"/>
          <p:cNvSpPr/>
          <p:nvPr/>
        </p:nvSpPr>
        <p:spPr>
          <a:xfrm>
            <a:off x="1321530" y="173086"/>
            <a:ext cx="6500882" cy="327975"/>
          </a:xfrm>
          <a:prstGeom prst="rect">
            <a:avLst/>
          </a:prstGeom>
          <a:noFill/>
          <a:ln/>
        </p:spPr>
        <p:txBody>
          <a:bodyPr wrap="none" lIns="0" tIns="0" rIns="0" bIns="0" rtlCol="0" anchor="t">
            <a:spAutoFit/>
          </a:bodyPr>
          <a:lstStyle/>
          <a:p>
            <a:pPr marL="0" indent="0" algn="ctr">
              <a:lnSpc>
                <a:spcPts val="2700"/>
              </a:lnSpc>
              <a:buNone/>
            </a:pPr>
            <a:r>
              <a:rPr lang="en-US" sz="2016" b="1" dirty="0">
                <a:solidFill>
                  <a:srgbClr val="1A1A1A"/>
                </a:solidFill>
              </a:rPr>
              <a:t>Gold Layer Dashboard using </a:t>
            </a:r>
            <a:r>
              <a:rPr lang="en-US" sz="2016" b="1" dirty="0" err="1">
                <a:solidFill>
                  <a:srgbClr val="1A1A1A"/>
                </a:solidFill>
              </a:rPr>
              <a:t>streamlit</a:t>
            </a:r>
            <a:r>
              <a:rPr lang="en-US" sz="2016" b="1" dirty="0">
                <a:solidFill>
                  <a:srgbClr val="1A1A1A"/>
                </a:solidFill>
              </a:rPr>
              <a:t>: Core Business Insights</a:t>
            </a:r>
            <a:endParaRPr lang="en-US" sz="2016" dirty="0"/>
          </a:p>
        </p:txBody>
      </p:sp>
      <p:sp>
        <p:nvSpPr>
          <p:cNvPr id="4" name="Text 1"/>
          <p:cNvSpPr/>
          <p:nvPr/>
        </p:nvSpPr>
        <p:spPr>
          <a:xfrm>
            <a:off x="1412491" y="531254"/>
            <a:ext cx="6500882" cy="161070"/>
          </a:xfrm>
          <a:prstGeom prst="rect">
            <a:avLst/>
          </a:prstGeom>
          <a:noFill/>
          <a:ln/>
        </p:spPr>
        <p:txBody>
          <a:bodyPr wrap="square" lIns="0" tIns="0" rIns="0" bIns="0" rtlCol="0" anchor="t">
            <a:spAutoFit/>
          </a:bodyPr>
          <a:lstStyle/>
          <a:p>
            <a:pPr marL="0" indent="0" algn="ctr">
              <a:lnSpc>
                <a:spcPts val="1400"/>
              </a:lnSpc>
              <a:buNone/>
            </a:pPr>
            <a:r>
              <a:rPr lang="en-US" sz="780" dirty="0">
                <a:solidFill>
                  <a:srgbClr val="666666"/>
                </a:solidFill>
              </a:rPr>
              <a:t>Interactive visualization of the three core Gold Layer business intelligence reports: Brand Performance, Category Inventory, and Price Tier Analysis.</a:t>
            </a:r>
            <a:endParaRPr lang="en-US" sz="780" dirty="0"/>
          </a:p>
        </p:txBody>
      </p:sp>
      <p:sp>
        <p:nvSpPr>
          <p:cNvPr id="7" name="Shape 3"/>
          <p:cNvSpPr/>
          <p:nvPr/>
        </p:nvSpPr>
        <p:spPr>
          <a:xfrm>
            <a:off x="0" y="4771997"/>
            <a:ext cx="9144000" cy="14288"/>
          </a:xfrm>
          <a:prstGeom prst="rect">
            <a:avLst/>
          </a:prstGeom>
          <a:solidFill>
            <a:srgbClr val="1A1A1A"/>
          </a:solidFill>
          <a:ln/>
        </p:spPr>
        <p:txBody>
          <a:bodyPr/>
          <a:lstStyle/>
          <a:p>
            <a:endParaRPr lang="en-US"/>
          </a:p>
        </p:txBody>
      </p:sp>
      <p:pic>
        <p:nvPicPr>
          <p:cNvPr id="16" name="Picture 15">
            <a:extLst>
              <a:ext uri="{FF2B5EF4-FFF2-40B4-BE49-F238E27FC236}">
                <a16:creationId xmlns:a16="http://schemas.microsoft.com/office/drawing/2014/main" id="{557A5835-2F78-BF50-1DC9-3316B265CC93}"/>
              </a:ext>
            </a:extLst>
          </p:cNvPr>
          <p:cNvPicPr>
            <a:picLocks noChangeAspect="1"/>
          </p:cNvPicPr>
          <p:nvPr/>
        </p:nvPicPr>
        <p:blipFill>
          <a:blip r:embed="rId4"/>
          <a:stretch>
            <a:fillRect/>
          </a:stretch>
        </p:blipFill>
        <p:spPr>
          <a:xfrm>
            <a:off x="221170" y="836674"/>
            <a:ext cx="4177237" cy="2185907"/>
          </a:xfrm>
          <a:prstGeom prst="rect">
            <a:avLst/>
          </a:prstGeom>
        </p:spPr>
      </p:pic>
      <p:pic>
        <p:nvPicPr>
          <p:cNvPr id="17" name="Picture 16">
            <a:extLst>
              <a:ext uri="{FF2B5EF4-FFF2-40B4-BE49-F238E27FC236}">
                <a16:creationId xmlns:a16="http://schemas.microsoft.com/office/drawing/2014/main" id="{BC0AA12B-1E7B-A08B-26AC-1564C137ABAD}"/>
              </a:ext>
            </a:extLst>
          </p:cNvPr>
          <p:cNvPicPr>
            <a:picLocks noChangeAspect="1"/>
          </p:cNvPicPr>
          <p:nvPr/>
        </p:nvPicPr>
        <p:blipFill>
          <a:blip r:embed="rId5"/>
          <a:stretch>
            <a:fillRect/>
          </a:stretch>
        </p:blipFill>
        <p:spPr>
          <a:xfrm>
            <a:off x="4514681" y="836675"/>
            <a:ext cx="4267398" cy="2185906"/>
          </a:xfrm>
          <a:prstGeom prst="rect">
            <a:avLst/>
          </a:prstGeom>
        </p:spPr>
      </p:pic>
      <p:pic>
        <p:nvPicPr>
          <p:cNvPr id="18" name="Picture 17">
            <a:extLst>
              <a:ext uri="{FF2B5EF4-FFF2-40B4-BE49-F238E27FC236}">
                <a16:creationId xmlns:a16="http://schemas.microsoft.com/office/drawing/2014/main" id="{BCABBB43-A1D8-DFE3-8F8A-2F6647AF9DAE}"/>
              </a:ext>
            </a:extLst>
          </p:cNvPr>
          <p:cNvPicPr>
            <a:picLocks noChangeAspect="1"/>
          </p:cNvPicPr>
          <p:nvPr/>
        </p:nvPicPr>
        <p:blipFill>
          <a:blip r:embed="rId6"/>
          <a:stretch>
            <a:fillRect/>
          </a:stretch>
        </p:blipFill>
        <p:spPr>
          <a:xfrm>
            <a:off x="2219819" y="3132780"/>
            <a:ext cx="4589724" cy="19402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3714750" cy="1060547"/>
          </a:xfrm>
          <a:prstGeom prst="rect">
            <a:avLst/>
          </a:prstGeom>
          <a:noFill/>
          <a:ln/>
        </p:spPr>
        <p:txBody>
          <a:bodyPr wrap="square" lIns="0" tIns="0" rIns="0" bIns="0" rtlCol="0" anchor="t">
            <a:spAutoFit/>
          </a:bodyPr>
          <a:lstStyle/>
          <a:p>
            <a:pPr marL="0" indent="0" algn="l">
              <a:lnSpc>
                <a:spcPts val="2700"/>
              </a:lnSpc>
              <a:buNone/>
            </a:pPr>
            <a:r>
              <a:rPr lang="en-US" sz="3200" b="1" dirty="0">
                <a:solidFill>
                  <a:srgbClr val="1A1A1A"/>
                </a:solidFill>
              </a:rPr>
              <a:t>Cortex Search: Natural Language Product Discovery</a:t>
            </a:r>
            <a:endParaRPr lang="en-US" sz="3200" dirty="0"/>
          </a:p>
        </p:txBody>
      </p:sp>
      <p:sp>
        <p:nvSpPr>
          <p:cNvPr id="4" name="Text 1"/>
          <p:cNvSpPr/>
          <p:nvPr/>
        </p:nvSpPr>
        <p:spPr>
          <a:xfrm>
            <a:off x="428625" y="1528763"/>
            <a:ext cx="3714750" cy="755207"/>
          </a:xfrm>
          <a:prstGeom prst="rect">
            <a:avLst/>
          </a:prstGeom>
          <a:noFill/>
          <a:ln/>
        </p:spPr>
        <p:txBody>
          <a:bodyPr wrap="square" lIns="0" tIns="0" rIns="0" bIns="0" rtlCol="0" anchor="t">
            <a:spAutoFit/>
          </a:bodyPr>
          <a:lstStyle/>
          <a:p>
            <a:pPr marL="0" indent="0" algn="l">
              <a:lnSpc>
                <a:spcPts val="1500"/>
              </a:lnSpc>
              <a:buNone/>
            </a:pPr>
            <a:r>
              <a:rPr lang="en-US" sz="1000" dirty="0">
                <a:solidFill>
                  <a:srgbClr val="333333"/>
                </a:solidFill>
              </a:rPr>
              <a:t>Cortex Search leverages AI to enable natural language querying directly against the raw product descriptions in the Bronze layer. This allows business users to find products and patterns without writing complex SQL.</a:t>
            </a:r>
            <a:endParaRPr lang="en-US" sz="1000" dirty="0"/>
          </a:p>
        </p:txBody>
      </p:sp>
      <p:sp>
        <p:nvSpPr>
          <p:cNvPr id="5" name="Text 2"/>
          <p:cNvSpPr/>
          <p:nvPr/>
        </p:nvSpPr>
        <p:spPr>
          <a:xfrm>
            <a:off x="428625" y="2478881"/>
            <a:ext cx="886909" cy="153888"/>
          </a:xfrm>
          <a:prstGeom prst="rect">
            <a:avLst/>
          </a:prstGeom>
          <a:noFill/>
          <a:ln/>
        </p:spPr>
        <p:txBody>
          <a:bodyPr wrap="none" lIns="0" tIns="0" rIns="0" bIns="0" rtlCol="0" anchor="t">
            <a:spAutoFit/>
          </a:bodyPr>
          <a:lstStyle/>
          <a:p>
            <a:pPr marL="0" indent="0" algn="l">
              <a:lnSpc>
                <a:spcPts val="1200"/>
              </a:lnSpc>
              <a:buNone/>
            </a:pPr>
            <a:r>
              <a:rPr lang="en-US" sz="1050" b="1" kern="0" spc="1" dirty="0">
                <a:solidFill>
                  <a:srgbClr val="C44D58"/>
                </a:solidFill>
              </a:rPr>
              <a:t>Key Capabilities</a:t>
            </a:r>
            <a:endParaRPr lang="en-US" sz="1050" dirty="0"/>
          </a:p>
        </p:txBody>
      </p:sp>
      <p:sp>
        <p:nvSpPr>
          <p:cNvPr id="6" name="Text 3"/>
          <p:cNvSpPr/>
          <p:nvPr/>
        </p:nvSpPr>
        <p:spPr>
          <a:xfrm>
            <a:off x="428625" y="2761059"/>
            <a:ext cx="40076"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1A1A1A"/>
                </a:solidFill>
              </a:rPr>
              <a:t>▪</a:t>
            </a:r>
            <a:endParaRPr lang="en-US" sz="900" dirty="0"/>
          </a:p>
        </p:txBody>
      </p:sp>
      <p:sp>
        <p:nvSpPr>
          <p:cNvPr id="7" name="Text 4"/>
          <p:cNvSpPr/>
          <p:nvPr/>
        </p:nvSpPr>
        <p:spPr>
          <a:xfrm>
            <a:off x="571500" y="2782491"/>
            <a:ext cx="1216680"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Conversational Search:</a:t>
            </a:r>
            <a:endParaRPr lang="en-US" sz="1000" dirty="0"/>
          </a:p>
        </p:txBody>
      </p:sp>
      <p:sp>
        <p:nvSpPr>
          <p:cNvPr id="8" name="Text 5"/>
          <p:cNvSpPr/>
          <p:nvPr/>
        </p:nvSpPr>
        <p:spPr>
          <a:xfrm>
            <a:off x="571500" y="2918171"/>
            <a:ext cx="3299631"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Users can ask questions like "Show me all red dresses with floral patterns."</a:t>
            </a:r>
            <a:endParaRPr lang="en-US" sz="1000" dirty="0"/>
          </a:p>
        </p:txBody>
      </p:sp>
      <p:sp>
        <p:nvSpPr>
          <p:cNvPr id="9" name="Text 6"/>
          <p:cNvSpPr/>
          <p:nvPr/>
        </p:nvSpPr>
        <p:spPr>
          <a:xfrm>
            <a:off x="428625" y="3192531"/>
            <a:ext cx="40076"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1A1A1A"/>
                </a:solidFill>
              </a:rPr>
              <a:t>▪</a:t>
            </a:r>
            <a:endParaRPr lang="en-US" sz="900" dirty="0"/>
          </a:p>
        </p:txBody>
      </p:sp>
      <p:sp>
        <p:nvSpPr>
          <p:cNvPr id="10" name="Text 7"/>
          <p:cNvSpPr/>
          <p:nvPr/>
        </p:nvSpPr>
        <p:spPr>
          <a:xfrm>
            <a:off x="571500" y="3213962"/>
            <a:ext cx="934551"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No SQL Required:</a:t>
            </a:r>
            <a:endParaRPr lang="en-US" sz="1000" dirty="0"/>
          </a:p>
        </p:txBody>
      </p:sp>
      <p:sp>
        <p:nvSpPr>
          <p:cNvPr id="11" name="Text 8"/>
          <p:cNvSpPr/>
          <p:nvPr/>
        </p:nvSpPr>
        <p:spPr>
          <a:xfrm>
            <a:off x="571500" y="3349642"/>
            <a:ext cx="3334038"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Democratizes data access by removing the technical barrier of entry.</a:t>
            </a:r>
            <a:endParaRPr lang="en-US" sz="1000" dirty="0"/>
          </a:p>
        </p:txBody>
      </p:sp>
      <p:sp>
        <p:nvSpPr>
          <p:cNvPr id="12" name="Text 9"/>
          <p:cNvSpPr/>
          <p:nvPr/>
        </p:nvSpPr>
        <p:spPr>
          <a:xfrm>
            <a:off x="428625" y="3624002"/>
            <a:ext cx="40076"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1A1A1A"/>
                </a:solidFill>
              </a:rPr>
              <a:t>▪</a:t>
            </a:r>
            <a:endParaRPr lang="en-US" sz="900" dirty="0"/>
          </a:p>
        </p:txBody>
      </p:sp>
      <p:sp>
        <p:nvSpPr>
          <p:cNvPr id="13" name="Text 10"/>
          <p:cNvSpPr/>
          <p:nvPr/>
        </p:nvSpPr>
        <p:spPr>
          <a:xfrm>
            <a:off x="571500" y="3645433"/>
            <a:ext cx="798295"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Fast Discovery:</a:t>
            </a:r>
            <a:endParaRPr lang="en-US" sz="1000" dirty="0"/>
          </a:p>
        </p:txBody>
      </p:sp>
      <p:sp>
        <p:nvSpPr>
          <p:cNvPr id="14" name="Text 11"/>
          <p:cNvSpPr/>
          <p:nvPr/>
        </p:nvSpPr>
        <p:spPr>
          <a:xfrm>
            <a:off x="571500" y="3781113"/>
            <a:ext cx="3260341"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Provides near-instantaneous results by searching the enriched data attributes.</a:t>
            </a:r>
            <a:endParaRPr lang="en-US" sz="1000" dirty="0"/>
          </a:p>
        </p:txBody>
      </p:sp>
      <p:sp>
        <p:nvSpPr>
          <p:cNvPr id="15" name="Text 12"/>
          <p:cNvSpPr/>
          <p:nvPr/>
        </p:nvSpPr>
        <p:spPr>
          <a:xfrm>
            <a:off x="428625" y="4055473"/>
            <a:ext cx="40076"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1A1A1A"/>
                </a:solidFill>
              </a:rPr>
              <a:t>▪</a:t>
            </a:r>
            <a:endParaRPr lang="en-US" sz="900" dirty="0"/>
          </a:p>
        </p:txBody>
      </p:sp>
      <p:sp>
        <p:nvSpPr>
          <p:cNvPr id="16" name="Text 13"/>
          <p:cNvSpPr/>
          <p:nvPr/>
        </p:nvSpPr>
        <p:spPr>
          <a:xfrm>
            <a:off x="571500" y="4076905"/>
            <a:ext cx="1069203"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Enriched Attributes:</a:t>
            </a:r>
            <a:endParaRPr lang="en-US" sz="1000" dirty="0"/>
          </a:p>
        </p:txBody>
      </p:sp>
      <p:sp>
        <p:nvSpPr>
          <p:cNvPr id="17" name="Text 14"/>
          <p:cNvSpPr/>
          <p:nvPr/>
        </p:nvSpPr>
        <p:spPr>
          <a:xfrm>
            <a:off x="571500" y="4212585"/>
            <a:ext cx="3607609"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Utilizes the clean, standardized attributes from the Silver layer for precise filtering.</a:t>
            </a:r>
            <a:endParaRPr lang="en-US" sz="1000" dirty="0"/>
          </a:p>
        </p:txBody>
      </p:sp>
      <p:pic>
        <p:nvPicPr>
          <p:cNvPr id="24" name="Picture 23">
            <a:extLst>
              <a:ext uri="{FF2B5EF4-FFF2-40B4-BE49-F238E27FC236}">
                <a16:creationId xmlns:a16="http://schemas.microsoft.com/office/drawing/2014/main" id="{0A683E08-D58D-24D4-363F-DEC42F11C186}"/>
              </a:ext>
            </a:extLst>
          </p:cNvPr>
          <p:cNvPicPr>
            <a:picLocks noChangeAspect="1"/>
          </p:cNvPicPr>
          <p:nvPr/>
        </p:nvPicPr>
        <p:blipFill>
          <a:blip r:embed="rId4"/>
          <a:stretch>
            <a:fillRect/>
          </a:stretch>
        </p:blipFill>
        <p:spPr>
          <a:xfrm>
            <a:off x="4840470" y="200790"/>
            <a:ext cx="3545792" cy="2117428"/>
          </a:xfrm>
          <a:prstGeom prst="rect">
            <a:avLst/>
          </a:prstGeom>
        </p:spPr>
      </p:pic>
      <p:pic>
        <p:nvPicPr>
          <p:cNvPr id="25" name="Picture 24">
            <a:extLst>
              <a:ext uri="{FF2B5EF4-FFF2-40B4-BE49-F238E27FC236}">
                <a16:creationId xmlns:a16="http://schemas.microsoft.com/office/drawing/2014/main" id="{F00781A7-470A-CE17-82B4-DD4DB3F48614}"/>
              </a:ext>
            </a:extLst>
          </p:cNvPr>
          <p:cNvPicPr>
            <a:picLocks noChangeAspect="1"/>
          </p:cNvPicPr>
          <p:nvPr/>
        </p:nvPicPr>
        <p:blipFill>
          <a:blip r:embed="rId5"/>
          <a:stretch>
            <a:fillRect/>
          </a:stretch>
        </p:blipFill>
        <p:spPr>
          <a:xfrm>
            <a:off x="5711551" y="2236662"/>
            <a:ext cx="1803628" cy="284927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E312D-E61B-0FA0-4704-ADDF5DA1AA7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FA287C4-7D80-C559-C053-3797C2064479}"/>
              </a:ext>
            </a:extLst>
          </p:cNvPr>
          <p:cNvPicPr>
            <a:picLocks noChangeAspect="1"/>
          </p:cNvPicPr>
          <p:nvPr/>
        </p:nvPicPr>
        <p:blipFill>
          <a:blip r:embed="rId3"/>
          <a:stretch>
            <a:fillRect/>
          </a:stretch>
        </p:blipFill>
        <p:spPr>
          <a:xfrm>
            <a:off x="9175" y="0"/>
            <a:ext cx="9144000" cy="5143500"/>
          </a:xfrm>
          <a:prstGeom prst="rect">
            <a:avLst/>
          </a:prstGeom>
        </p:spPr>
      </p:pic>
      <p:sp>
        <p:nvSpPr>
          <p:cNvPr id="5" name="Text 2">
            <a:extLst>
              <a:ext uri="{FF2B5EF4-FFF2-40B4-BE49-F238E27FC236}">
                <a16:creationId xmlns:a16="http://schemas.microsoft.com/office/drawing/2014/main" id="{0DF445C3-7EF6-1F15-A90F-187EA819888F}"/>
              </a:ext>
            </a:extLst>
          </p:cNvPr>
          <p:cNvSpPr/>
          <p:nvPr/>
        </p:nvSpPr>
        <p:spPr>
          <a:xfrm>
            <a:off x="428625" y="2478881"/>
            <a:ext cx="65" cy="145361"/>
          </a:xfrm>
          <a:prstGeom prst="rect">
            <a:avLst/>
          </a:prstGeom>
          <a:noFill/>
          <a:ln/>
        </p:spPr>
        <p:txBody>
          <a:bodyPr wrap="none" lIns="0" tIns="0" rIns="0" bIns="0" rtlCol="0" anchor="t">
            <a:spAutoFit/>
          </a:bodyPr>
          <a:lstStyle/>
          <a:p>
            <a:pPr marL="0" indent="0" algn="l">
              <a:lnSpc>
                <a:spcPts val="1200"/>
              </a:lnSpc>
              <a:buNone/>
            </a:pPr>
            <a:endParaRPr lang="en-US" sz="885" dirty="0"/>
          </a:p>
        </p:txBody>
      </p:sp>
      <p:sp>
        <p:nvSpPr>
          <p:cNvPr id="6" name="Text 3">
            <a:extLst>
              <a:ext uri="{FF2B5EF4-FFF2-40B4-BE49-F238E27FC236}">
                <a16:creationId xmlns:a16="http://schemas.microsoft.com/office/drawing/2014/main" id="{55267158-BDEB-48EA-4314-020E54C72733}"/>
              </a:ext>
            </a:extLst>
          </p:cNvPr>
          <p:cNvSpPr/>
          <p:nvPr/>
        </p:nvSpPr>
        <p:spPr>
          <a:xfrm>
            <a:off x="428625" y="2761059"/>
            <a:ext cx="85725" cy="154288"/>
          </a:xfrm>
          <a:prstGeom prst="rect">
            <a:avLst/>
          </a:prstGeom>
          <a:noFill/>
          <a:ln/>
        </p:spPr>
        <p:txBody>
          <a:bodyPr wrap="none" lIns="0" tIns="0" rIns="0" bIns="0" rtlCol="0" anchor="t">
            <a:spAutoFit/>
          </a:bodyPr>
          <a:lstStyle/>
          <a:p>
            <a:pPr marL="0" indent="0" algn="l">
              <a:lnSpc>
                <a:spcPts val="1200"/>
              </a:lnSpc>
              <a:buNone/>
            </a:pPr>
            <a:r>
              <a:rPr lang="en-US" sz="621" dirty="0">
                <a:solidFill>
                  <a:srgbClr val="1A1A1A"/>
                </a:solidFill>
              </a:rPr>
              <a:t>▪</a:t>
            </a:r>
            <a:endParaRPr lang="en-US" sz="621" dirty="0"/>
          </a:p>
        </p:txBody>
      </p:sp>
      <p:sp>
        <p:nvSpPr>
          <p:cNvPr id="9" name="Text 6">
            <a:extLst>
              <a:ext uri="{FF2B5EF4-FFF2-40B4-BE49-F238E27FC236}">
                <a16:creationId xmlns:a16="http://schemas.microsoft.com/office/drawing/2014/main" id="{2EDB389F-9405-412E-BFA7-A33A4915DBE8}"/>
              </a:ext>
            </a:extLst>
          </p:cNvPr>
          <p:cNvSpPr/>
          <p:nvPr/>
        </p:nvSpPr>
        <p:spPr>
          <a:xfrm>
            <a:off x="428625" y="3192531"/>
            <a:ext cx="85725" cy="154288"/>
          </a:xfrm>
          <a:prstGeom prst="rect">
            <a:avLst/>
          </a:prstGeom>
          <a:noFill/>
          <a:ln/>
        </p:spPr>
        <p:txBody>
          <a:bodyPr wrap="none" lIns="0" tIns="0" rIns="0" bIns="0" rtlCol="0" anchor="t">
            <a:spAutoFit/>
          </a:bodyPr>
          <a:lstStyle/>
          <a:p>
            <a:pPr marL="0" indent="0" algn="l">
              <a:lnSpc>
                <a:spcPts val="1200"/>
              </a:lnSpc>
              <a:buNone/>
            </a:pPr>
            <a:r>
              <a:rPr lang="en-US" sz="621" dirty="0">
                <a:solidFill>
                  <a:srgbClr val="1A1A1A"/>
                </a:solidFill>
              </a:rPr>
              <a:t>▪</a:t>
            </a:r>
            <a:endParaRPr lang="en-US" sz="621" dirty="0"/>
          </a:p>
        </p:txBody>
      </p:sp>
      <p:sp>
        <p:nvSpPr>
          <p:cNvPr id="12" name="Text 9">
            <a:extLst>
              <a:ext uri="{FF2B5EF4-FFF2-40B4-BE49-F238E27FC236}">
                <a16:creationId xmlns:a16="http://schemas.microsoft.com/office/drawing/2014/main" id="{DF5312E1-A3D8-DFAB-D4B0-1A94D08BB04B}"/>
              </a:ext>
            </a:extLst>
          </p:cNvPr>
          <p:cNvSpPr/>
          <p:nvPr/>
        </p:nvSpPr>
        <p:spPr>
          <a:xfrm>
            <a:off x="428625" y="3624002"/>
            <a:ext cx="85725" cy="154288"/>
          </a:xfrm>
          <a:prstGeom prst="rect">
            <a:avLst/>
          </a:prstGeom>
          <a:noFill/>
          <a:ln/>
        </p:spPr>
        <p:txBody>
          <a:bodyPr wrap="none" lIns="0" tIns="0" rIns="0" bIns="0" rtlCol="0" anchor="t">
            <a:spAutoFit/>
          </a:bodyPr>
          <a:lstStyle/>
          <a:p>
            <a:pPr marL="0" indent="0" algn="l">
              <a:lnSpc>
                <a:spcPts val="1200"/>
              </a:lnSpc>
              <a:buNone/>
            </a:pPr>
            <a:r>
              <a:rPr lang="en-US" sz="621" dirty="0">
                <a:solidFill>
                  <a:srgbClr val="1A1A1A"/>
                </a:solidFill>
              </a:rPr>
              <a:t>▪</a:t>
            </a:r>
            <a:endParaRPr lang="en-US" sz="621" dirty="0"/>
          </a:p>
        </p:txBody>
      </p:sp>
      <p:sp>
        <p:nvSpPr>
          <p:cNvPr id="15" name="Text 12">
            <a:extLst>
              <a:ext uri="{FF2B5EF4-FFF2-40B4-BE49-F238E27FC236}">
                <a16:creationId xmlns:a16="http://schemas.microsoft.com/office/drawing/2014/main" id="{54B334F6-4662-86F1-0EE8-7329484A03D8}"/>
              </a:ext>
            </a:extLst>
          </p:cNvPr>
          <p:cNvSpPr/>
          <p:nvPr/>
        </p:nvSpPr>
        <p:spPr>
          <a:xfrm>
            <a:off x="428625" y="4055473"/>
            <a:ext cx="85725" cy="154288"/>
          </a:xfrm>
          <a:prstGeom prst="rect">
            <a:avLst/>
          </a:prstGeom>
          <a:noFill/>
          <a:ln/>
        </p:spPr>
        <p:txBody>
          <a:bodyPr wrap="none" lIns="0" tIns="0" rIns="0" bIns="0" rtlCol="0" anchor="t">
            <a:spAutoFit/>
          </a:bodyPr>
          <a:lstStyle/>
          <a:p>
            <a:pPr marL="0" indent="0" algn="l">
              <a:lnSpc>
                <a:spcPts val="1200"/>
              </a:lnSpc>
              <a:buNone/>
            </a:pPr>
            <a:r>
              <a:rPr lang="en-US" sz="621" dirty="0">
                <a:solidFill>
                  <a:srgbClr val="1A1A1A"/>
                </a:solidFill>
              </a:rPr>
              <a:t>▪</a:t>
            </a:r>
            <a:endParaRPr lang="en-US" sz="621" dirty="0"/>
          </a:p>
        </p:txBody>
      </p:sp>
      <p:pic>
        <p:nvPicPr>
          <p:cNvPr id="18" name="Picture 17">
            <a:extLst>
              <a:ext uri="{FF2B5EF4-FFF2-40B4-BE49-F238E27FC236}">
                <a16:creationId xmlns:a16="http://schemas.microsoft.com/office/drawing/2014/main" id="{6D572A0D-136F-0F5E-6802-1B6A7AA961EB}"/>
              </a:ext>
            </a:extLst>
          </p:cNvPr>
          <p:cNvPicPr>
            <a:picLocks noChangeAspect="1"/>
          </p:cNvPicPr>
          <p:nvPr/>
        </p:nvPicPr>
        <p:blipFill>
          <a:blip r:embed="rId4"/>
          <a:stretch>
            <a:fillRect/>
          </a:stretch>
        </p:blipFill>
        <p:spPr>
          <a:xfrm>
            <a:off x="777437" y="21363"/>
            <a:ext cx="2875525" cy="1639751"/>
          </a:xfrm>
          <a:prstGeom prst="rect">
            <a:avLst/>
          </a:prstGeom>
        </p:spPr>
      </p:pic>
      <p:pic>
        <p:nvPicPr>
          <p:cNvPr id="19" name="Picture 18">
            <a:extLst>
              <a:ext uri="{FF2B5EF4-FFF2-40B4-BE49-F238E27FC236}">
                <a16:creationId xmlns:a16="http://schemas.microsoft.com/office/drawing/2014/main" id="{9F5E9FFC-A606-99C2-E8CD-EEC913416349}"/>
              </a:ext>
            </a:extLst>
          </p:cNvPr>
          <p:cNvPicPr>
            <a:picLocks noChangeAspect="1"/>
          </p:cNvPicPr>
          <p:nvPr/>
        </p:nvPicPr>
        <p:blipFill>
          <a:blip r:embed="rId5"/>
          <a:stretch>
            <a:fillRect/>
          </a:stretch>
        </p:blipFill>
        <p:spPr>
          <a:xfrm>
            <a:off x="5163580" y="-2939"/>
            <a:ext cx="2963383" cy="1664054"/>
          </a:xfrm>
          <a:prstGeom prst="rect">
            <a:avLst/>
          </a:prstGeom>
        </p:spPr>
      </p:pic>
      <p:pic>
        <p:nvPicPr>
          <p:cNvPr id="20" name="Picture 19">
            <a:extLst>
              <a:ext uri="{FF2B5EF4-FFF2-40B4-BE49-F238E27FC236}">
                <a16:creationId xmlns:a16="http://schemas.microsoft.com/office/drawing/2014/main" id="{3EB18F26-46F6-DCBF-7A1F-0EBF5459A465}"/>
              </a:ext>
            </a:extLst>
          </p:cNvPr>
          <p:cNvPicPr>
            <a:picLocks noChangeAspect="1"/>
          </p:cNvPicPr>
          <p:nvPr/>
        </p:nvPicPr>
        <p:blipFill>
          <a:blip r:embed="rId6"/>
          <a:stretch>
            <a:fillRect/>
          </a:stretch>
        </p:blipFill>
        <p:spPr>
          <a:xfrm>
            <a:off x="5375763" y="1704884"/>
            <a:ext cx="2539015" cy="3323320"/>
          </a:xfrm>
          <a:prstGeom prst="rect">
            <a:avLst/>
          </a:prstGeom>
        </p:spPr>
      </p:pic>
      <p:pic>
        <p:nvPicPr>
          <p:cNvPr id="21" name="Picture 20">
            <a:extLst>
              <a:ext uri="{FF2B5EF4-FFF2-40B4-BE49-F238E27FC236}">
                <a16:creationId xmlns:a16="http://schemas.microsoft.com/office/drawing/2014/main" id="{25A9D747-D799-6644-6AFD-E0986407C893}"/>
              </a:ext>
            </a:extLst>
          </p:cNvPr>
          <p:cNvPicPr>
            <a:picLocks noChangeAspect="1"/>
          </p:cNvPicPr>
          <p:nvPr/>
        </p:nvPicPr>
        <p:blipFill>
          <a:blip r:embed="rId7"/>
          <a:stretch>
            <a:fillRect/>
          </a:stretch>
        </p:blipFill>
        <p:spPr>
          <a:xfrm>
            <a:off x="1247124" y="1704884"/>
            <a:ext cx="1936149" cy="3323320"/>
          </a:xfrm>
          <a:prstGeom prst="rect">
            <a:avLst/>
          </a:prstGeom>
        </p:spPr>
      </p:pic>
    </p:spTree>
    <p:extLst>
      <p:ext uri="{BB962C8B-B14F-4D97-AF65-F5344CB8AC3E}">
        <p14:creationId xmlns:p14="http://schemas.microsoft.com/office/powerpoint/2010/main" val="700241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4007" y="-13609"/>
            <a:ext cx="9249720" cy="5154271"/>
          </a:xfrm>
          <a:prstGeom prst="rect">
            <a:avLst/>
          </a:prstGeom>
        </p:spPr>
      </p:pic>
      <p:sp>
        <p:nvSpPr>
          <p:cNvPr id="9" name="Text 6"/>
          <p:cNvSpPr/>
          <p:nvPr/>
        </p:nvSpPr>
        <p:spPr>
          <a:xfrm>
            <a:off x="5000625" y="357188"/>
            <a:ext cx="3714750" cy="1060547"/>
          </a:xfrm>
          <a:prstGeom prst="rect">
            <a:avLst/>
          </a:prstGeom>
          <a:noFill/>
          <a:ln/>
        </p:spPr>
        <p:txBody>
          <a:bodyPr wrap="square" lIns="0" tIns="0" rIns="0" bIns="0" rtlCol="0" anchor="t">
            <a:spAutoFit/>
          </a:bodyPr>
          <a:lstStyle/>
          <a:p>
            <a:pPr marL="0" indent="0" algn="l">
              <a:lnSpc>
                <a:spcPts val="2700"/>
              </a:lnSpc>
              <a:buNone/>
            </a:pPr>
            <a:r>
              <a:rPr lang="en-US" sz="3200" b="1" dirty="0">
                <a:solidFill>
                  <a:srgbClr val="1A1A1A"/>
                </a:solidFill>
              </a:rPr>
              <a:t>Cortex Analyst: AI-Powered Data Analysis</a:t>
            </a:r>
            <a:endParaRPr lang="en-US" sz="3200" dirty="0"/>
          </a:p>
        </p:txBody>
      </p:sp>
      <p:sp>
        <p:nvSpPr>
          <p:cNvPr id="10" name="Text 7"/>
          <p:cNvSpPr/>
          <p:nvPr/>
        </p:nvSpPr>
        <p:spPr>
          <a:xfrm>
            <a:off x="4989863" y="1347803"/>
            <a:ext cx="3714750" cy="755207"/>
          </a:xfrm>
          <a:prstGeom prst="rect">
            <a:avLst/>
          </a:prstGeom>
          <a:noFill/>
          <a:ln/>
        </p:spPr>
        <p:txBody>
          <a:bodyPr wrap="square" lIns="0" tIns="0" rIns="0" bIns="0" rtlCol="0" anchor="t">
            <a:spAutoFit/>
          </a:bodyPr>
          <a:lstStyle/>
          <a:p>
            <a:pPr marL="0" indent="0" algn="l">
              <a:lnSpc>
                <a:spcPts val="1500"/>
              </a:lnSpc>
              <a:buNone/>
            </a:pPr>
            <a:r>
              <a:rPr lang="en-US" sz="1000" dirty="0">
                <a:solidFill>
                  <a:srgbClr val="333333"/>
                </a:solidFill>
              </a:rPr>
              <a:t>Cortex Analyst allows business users to query the clean, structured data in the Silver layer using natural language questions. The AI automatically translates the request into SQL, runs the query, and presents the results.</a:t>
            </a:r>
            <a:endParaRPr lang="en-US" sz="1000" dirty="0"/>
          </a:p>
        </p:txBody>
      </p:sp>
      <p:sp>
        <p:nvSpPr>
          <p:cNvPr id="11" name="Text 8"/>
          <p:cNvSpPr/>
          <p:nvPr/>
        </p:nvSpPr>
        <p:spPr>
          <a:xfrm>
            <a:off x="4989863" y="2076485"/>
            <a:ext cx="886909" cy="153888"/>
          </a:xfrm>
          <a:prstGeom prst="rect">
            <a:avLst/>
          </a:prstGeom>
          <a:noFill/>
          <a:ln/>
        </p:spPr>
        <p:txBody>
          <a:bodyPr wrap="none" lIns="0" tIns="0" rIns="0" bIns="0" rtlCol="0" anchor="t">
            <a:spAutoFit/>
          </a:bodyPr>
          <a:lstStyle/>
          <a:p>
            <a:pPr marL="0" indent="0" algn="l">
              <a:lnSpc>
                <a:spcPts val="1200"/>
              </a:lnSpc>
              <a:buNone/>
            </a:pPr>
            <a:r>
              <a:rPr lang="en-US" sz="1050" b="1" kern="0" spc="1" dirty="0">
                <a:solidFill>
                  <a:srgbClr val="C44D58"/>
                </a:solidFill>
              </a:rPr>
              <a:t>Key Capabilities</a:t>
            </a:r>
            <a:endParaRPr lang="en-US" sz="1050" dirty="0"/>
          </a:p>
        </p:txBody>
      </p:sp>
      <p:sp>
        <p:nvSpPr>
          <p:cNvPr id="12" name="Text 9"/>
          <p:cNvSpPr/>
          <p:nvPr/>
        </p:nvSpPr>
        <p:spPr>
          <a:xfrm>
            <a:off x="5000625" y="2225278"/>
            <a:ext cx="40076"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1A1A1A"/>
                </a:solidFill>
              </a:rPr>
              <a:t>▪</a:t>
            </a:r>
            <a:endParaRPr lang="en-US" sz="900" dirty="0"/>
          </a:p>
        </p:txBody>
      </p:sp>
      <p:sp>
        <p:nvSpPr>
          <p:cNvPr id="13" name="Text 10"/>
          <p:cNvSpPr/>
          <p:nvPr/>
        </p:nvSpPr>
        <p:spPr>
          <a:xfrm>
            <a:off x="5143500" y="2246709"/>
            <a:ext cx="1535677"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Natural Language Questions:</a:t>
            </a:r>
            <a:endParaRPr lang="en-US" sz="1000" dirty="0"/>
          </a:p>
        </p:txBody>
      </p:sp>
      <p:sp>
        <p:nvSpPr>
          <p:cNvPr id="14" name="Text 11"/>
          <p:cNvSpPr/>
          <p:nvPr/>
        </p:nvSpPr>
        <p:spPr>
          <a:xfrm>
            <a:off x="5147612" y="2382389"/>
            <a:ext cx="3420573"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Ask complex analytical questions without knowing the underlying schema or SQL syntax.</a:t>
            </a:r>
            <a:endParaRPr lang="en-US" sz="1000" dirty="0"/>
          </a:p>
        </p:txBody>
      </p:sp>
      <p:sp>
        <p:nvSpPr>
          <p:cNvPr id="15" name="Text 12"/>
          <p:cNvSpPr/>
          <p:nvPr/>
        </p:nvSpPr>
        <p:spPr>
          <a:xfrm>
            <a:off x="5000625" y="2656749"/>
            <a:ext cx="40076"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1A1A1A"/>
                </a:solidFill>
              </a:rPr>
              <a:t>▪</a:t>
            </a:r>
            <a:endParaRPr lang="en-US" sz="900" dirty="0"/>
          </a:p>
        </p:txBody>
      </p:sp>
      <p:sp>
        <p:nvSpPr>
          <p:cNvPr id="16" name="Text 13"/>
          <p:cNvSpPr/>
          <p:nvPr/>
        </p:nvSpPr>
        <p:spPr>
          <a:xfrm>
            <a:off x="5143500" y="2678181"/>
            <a:ext cx="1453924"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Automatic SQL Generation:</a:t>
            </a:r>
            <a:endParaRPr lang="en-US" sz="1000" dirty="0"/>
          </a:p>
        </p:txBody>
      </p:sp>
      <p:sp>
        <p:nvSpPr>
          <p:cNvPr id="17" name="Text 14"/>
          <p:cNvSpPr/>
          <p:nvPr/>
        </p:nvSpPr>
        <p:spPr>
          <a:xfrm>
            <a:off x="5147612" y="2813861"/>
            <a:ext cx="3360855"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AI engine translates natural language into optimized SQL queries for the Snowflake DWH.</a:t>
            </a:r>
            <a:endParaRPr lang="en-US" sz="1000" dirty="0"/>
          </a:p>
        </p:txBody>
      </p:sp>
      <p:sp>
        <p:nvSpPr>
          <p:cNvPr id="18" name="Text 15"/>
          <p:cNvSpPr/>
          <p:nvPr/>
        </p:nvSpPr>
        <p:spPr>
          <a:xfrm>
            <a:off x="5000625" y="3088221"/>
            <a:ext cx="40076"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1A1A1A"/>
                </a:solidFill>
              </a:rPr>
              <a:t>▪</a:t>
            </a:r>
            <a:endParaRPr lang="en-US" sz="900" dirty="0"/>
          </a:p>
        </p:txBody>
      </p:sp>
      <p:sp>
        <p:nvSpPr>
          <p:cNvPr id="19" name="Text 16"/>
          <p:cNvSpPr/>
          <p:nvPr/>
        </p:nvSpPr>
        <p:spPr>
          <a:xfrm>
            <a:off x="5143500" y="3109652"/>
            <a:ext cx="1091646"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Query Curated Data:</a:t>
            </a:r>
            <a:endParaRPr lang="en-US" sz="1000" dirty="0"/>
          </a:p>
        </p:txBody>
      </p:sp>
      <p:sp>
        <p:nvSpPr>
          <p:cNvPr id="20" name="Text 17"/>
          <p:cNvSpPr/>
          <p:nvPr/>
        </p:nvSpPr>
        <p:spPr>
          <a:xfrm>
            <a:off x="5147612" y="3245331"/>
            <a:ext cx="3399253"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Focuses analysis on the high-quality, standardized data in the Silver layer.</a:t>
            </a:r>
            <a:endParaRPr lang="en-US" sz="1000" dirty="0"/>
          </a:p>
        </p:txBody>
      </p:sp>
      <p:sp>
        <p:nvSpPr>
          <p:cNvPr id="21" name="Text 18"/>
          <p:cNvSpPr/>
          <p:nvPr/>
        </p:nvSpPr>
        <p:spPr>
          <a:xfrm>
            <a:off x="5000625" y="3519692"/>
            <a:ext cx="40076" cy="145874"/>
          </a:xfrm>
          <a:prstGeom prst="rect">
            <a:avLst/>
          </a:prstGeom>
          <a:noFill/>
          <a:ln/>
        </p:spPr>
        <p:txBody>
          <a:bodyPr wrap="none" lIns="0" tIns="0" rIns="0" bIns="0" rtlCol="0" anchor="t">
            <a:spAutoFit/>
          </a:bodyPr>
          <a:lstStyle/>
          <a:p>
            <a:pPr marL="0" indent="0" algn="l">
              <a:lnSpc>
                <a:spcPts val="1200"/>
              </a:lnSpc>
              <a:buNone/>
            </a:pPr>
            <a:r>
              <a:rPr lang="en-US" sz="900" dirty="0">
                <a:solidFill>
                  <a:srgbClr val="1A1A1A"/>
                </a:solidFill>
              </a:rPr>
              <a:t>▪</a:t>
            </a:r>
            <a:endParaRPr lang="en-US" sz="900" dirty="0"/>
          </a:p>
        </p:txBody>
      </p:sp>
      <p:sp>
        <p:nvSpPr>
          <p:cNvPr id="22" name="Text 19"/>
          <p:cNvSpPr/>
          <p:nvPr/>
        </p:nvSpPr>
        <p:spPr>
          <a:xfrm>
            <a:off x="5143500" y="3541123"/>
            <a:ext cx="851195" cy="168508"/>
          </a:xfrm>
          <a:prstGeom prst="rect">
            <a:avLst/>
          </a:prstGeom>
          <a:noFill/>
          <a:ln/>
        </p:spPr>
        <p:txBody>
          <a:bodyPr wrap="none" lIns="0" tIns="0" rIns="0" bIns="0" rtlCol="0" anchor="t">
            <a:spAutoFit/>
          </a:bodyPr>
          <a:lstStyle/>
          <a:p>
            <a:pPr marL="0" indent="0" algn="l">
              <a:lnSpc>
                <a:spcPts val="1400"/>
              </a:lnSpc>
              <a:buNone/>
            </a:pPr>
            <a:r>
              <a:rPr lang="en-US" sz="1000" b="1" dirty="0">
                <a:solidFill>
                  <a:srgbClr val="333333"/>
                </a:solidFill>
              </a:rPr>
              <a:t>Instant Insights:</a:t>
            </a:r>
            <a:endParaRPr lang="en-US" sz="1000" dirty="0"/>
          </a:p>
        </p:txBody>
      </p:sp>
      <p:sp>
        <p:nvSpPr>
          <p:cNvPr id="23" name="Text 20"/>
          <p:cNvSpPr/>
          <p:nvPr/>
        </p:nvSpPr>
        <p:spPr>
          <a:xfrm>
            <a:off x="5143500" y="3676803"/>
            <a:ext cx="3524883" cy="348044"/>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Reduces time-to-insight by providing immediate answers to ad-hoc business questions.</a:t>
            </a:r>
            <a:endParaRPr lang="en-US" sz="1000" dirty="0"/>
          </a:p>
        </p:txBody>
      </p:sp>
      <p:pic>
        <p:nvPicPr>
          <p:cNvPr id="24" name="Picture 23">
            <a:extLst>
              <a:ext uri="{FF2B5EF4-FFF2-40B4-BE49-F238E27FC236}">
                <a16:creationId xmlns:a16="http://schemas.microsoft.com/office/drawing/2014/main" id="{BD99FC70-4FC5-FB29-16BD-40573BAA25D6}"/>
              </a:ext>
            </a:extLst>
          </p:cNvPr>
          <p:cNvPicPr>
            <a:picLocks noChangeAspect="1"/>
          </p:cNvPicPr>
          <p:nvPr/>
        </p:nvPicPr>
        <p:blipFill>
          <a:blip r:embed="rId4"/>
          <a:srcRect l="9856" t="5618" r="10295" b="4112"/>
          <a:stretch>
            <a:fillRect/>
          </a:stretch>
        </p:blipFill>
        <p:spPr>
          <a:xfrm>
            <a:off x="443086" y="15435"/>
            <a:ext cx="3323764" cy="1754924"/>
          </a:xfrm>
          <a:prstGeom prst="rect">
            <a:avLst/>
          </a:prstGeom>
        </p:spPr>
      </p:pic>
      <p:pic>
        <p:nvPicPr>
          <p:cNvPr id="25" name="Picture 24">
            <a:extLst>
              <a:ext uri="{FF2B5EF4-FFF2-40B4-BE49-F238E27FC236}">
                <a16:creationId xmlns:a16="http://schemas.microsoft.com/office/drawing/2014/main" id="{8CFFB3E2-A1E3-2236-75C0-21FAE67371FF}"/>
              </a:ext>
            </a:extLst>
          </p:cNvPr>
          <p:cNvPicPr>
            <a:picLocks noChangeAspect="1"/>
          </p:cNvPicPr>
          <p:nvPr/>
        </p:nvPicPr>
        <p:blipFill>
          <a:blip r:embed="rId5"/>
          <a:srcRect l="10400" t="6802" r="10462" b="7028"/>
          <a:stretch>
            <a:fillRect/>
          </a:stretch>
        </p:blipFill>
        <p:spPr>
          <a:xfrm>
            <a:off x="444883" y="1773648"/>
            <a:ext cx="3323094" cy="1636749"/>
          </a:xfrm>
          <a:prstGeom prst="rect">
            <a:avLst/>
          </a:prstGeom>
        </p:spPr>
      </p:pic>
      <p:pic>
        <p:nvPicPr>
          <p:cNvPr id="3" name="Picture 2">
            <a:extLst>
              <a:ext uri="{FF2B5EF4-FFF2-40B4-BE49-F238E27FC236}">
                <a16:creationId xmlns:a16="http://schemas.microsoft.com/office/drawing/2014/main" id="{CC2FADE6-C640-21C7-63BC-43835DEAF40E}"/>
              </a:ext>
            </a:extLst>
          </p:cNvPr>
          <p:cNvPicPr>
            <a:picLocks noChangeAspect="1"/>
          </p:cNvPicPr>
          <p:nvPr/>
        </p:nvPicPr>
        <p:blipFill>
          <a:blip r:embed="rId6"/>
          <a:stretch>
            <a:fillRect/>
          </a:stretch>
        </p:blipFill>
        <p:spPr>
          <a:xfrm>
            <a:off x="448172" y="3404330"/>
            <a:ext cx="3317953" cy="17186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357188"/>
            <a:ext cx="4908844" cy="384721"/>
          </a:xfrm>
          <a:prstGeom prst="rect">
            <a:avLst/>
          </a:prstGeom>
          <a:noFill/>
          <a:ln/>
        </p:spPr>
        <p:txBody>
          <a:bodyPr wrap="none" lIns="0" tIns="0" rIns="0" bIns="0" rtlCol="0" anchor="t">
            <a:spAutoFit/>
          </a:bodyPr>
          <a:lstStyle/>
          <a:p>
            <a:pPr marL="0" indent="0" algn="l">
              <a:lnSpc>
                <a:spcPts val="3000"/>
              </a:lnSpc>
              <a:buNone/>
            </a:pPr>
            <a:r>
              <a:rPr lang="en-US" sz="2800" b="1" dirty="0">
                <a:solidFill>
                  <a:srgbClr val="1A1A1A"/>
                </a:solidFill>
              </a:rPr>
              <a:t>Project Summary and Conclusion</a:t>
            </a:r>
            <a:endParaRPr lang="en-US" sz="2800" dirty="0"/>
          </a:p>
        </p:txBody>
      </p:sp>
      <p:sp>
        <p:nvSpPr>
          <p:cNvPr id="4" name="Text 1"/>
          <p:cNvSpPr/>
          <p:nvPr/>
        </p:nvSpPr>
        <p:spPr>
          <a:xfrm>
            <a:off x="428625" y="820080"/>
            <a:ext cx="5947141" cy="155492"/>
          </a:xfrm>
          <a:prstGeom prst="rect">
            <a:avLst/>
          </a:prstGeom>
          <a:noFill/>
          <a:ln/>
        </p:spPr>
        <p:txBody>
          <a:bodyPr wrap="none" lIns="0" tIns="0" rIns="0" bIns="0" rtlCol="0" anchor="t">
            <a:spAutoFit/>
          </a:bodyPr>
          <a:lstStyle/>
          <a:p>
            <a:pPr marL="0" indent="0" algn="l">
              <a:lnSpc>
                <a:spcPts val="1300"/>
              </a:lnSpc>
              <a:buNone/>
            </a:pPr>
            <a:r>
              <a:rPr lang="en-US" sz="900" dirty="0">
                <a:solidFill>
                  <a:srgbClr val="666666"/>
                </a:solidFill>
              </a:rPr>
              <a:t>A successful implementation of the Fashion Data Warehouse on Snowflake, delivering governance, quality, and business value.</a:t>
            </a:r>
            <a:endParaRPr lang="en-US" sz="900" dirty="0"/>
          </a:p>
        </p:txBody>
      </p:sp>
      <p:sp>
        <p:nvSpPr>
          <p:cNvPr id="5" name="Shape 2"/>
          <p:cNvSpPr/>
          <p:nvPr/>
        </p:nvSpPr>
        <p:spPr>
          <a:xfrm>
            <a:off x="0" y="1195127"/>
            <a:ext cx="9144000" cy="3948373"/>
          </a:xfrm>
          <a:prstGeom prst="rect">
            <a:avLst/>
          </a:prstGeom>
          <a:solidFill>
            <a:srgbClr val="000000">
              <a:alpha val="0"/>
            </a:srgbClr>
          </a:solidFill>
          <a:ln/>
        </p:spPr>
        <p:txBody>
          <a:bodyPr/>
          <a:lstStyle/>
          <a:p>
            <a:endParaRPr lang="en-US" sz="2400"/>
          </a:p>
        </p:txBody>
      </p:sp>
      <p:sp>
        <p:nvSpPr>
          <p:cNvPr id="6" name="Shape 3"/>
          <p:cNvSpPr/>
          <p:nvPr/>
        </p:nvSpPr>
        <p:spPr>
          <a:xfrm>
            <a:off x="0" y="1195127"/>
            <a:ext cx="9144000" cy="7144"/>
          </a:xfrm>
          <a:prstGeom prst="rect">
            <a:avLst/>
          </a:prstGeom>
          <a:solidFill>
            <a:srgbClr val="1A1A1A"/>
          </a:solidFill>
          <a:ln/>
        </p:spPr>
        <p:txBody>
          <a:bodyPr/>
          <a:lstStyle/>
          <a:p>
            <a:endParaRPr lang="en-US" sz="2400"/>
          </a:p>
        </p:txBody>
      </p:sp>
      <p:sp>
        <p:nvSpPr>
          <p:cNvPr id="7" name="Text 4"/>
          <p:cNvSpPr/>
          <p:nvPr/>
        </p:nvSpPr>
        <p:spPr>
          <a:xfrm>
            <a:off x="428625" y="1409440"/>
            <a:ext cx="981935" cy="153888"/>
          </a:xfrm>
          <a:prstGeom prst="rect">
            <a:avLst/>
          </a:prstGeom>
          <a:noFill/>
          <a:ln/>
        </p:spPr>
        <p:txBody>
          <a:bodyPr wrap="none" lIns="0" tIns="0" rIns="0" bIns="0" rtlCol="0" anchor="t">
            <a:spAutoFit/>
          </a:bodyPr>
          <a:lstStyle/>
          <a:p>
            <a:pPr marL="0" indent="0" algn="l">
              <a:lnSpc>
                <a:spcPts val="1200"/>
              </a:lnSpc>
              <a:buNone/>
            </a:pPr>
            <a:r>
              <a:rPr lang="en-US" sz="1000" b="1" kern="0" spc="2" dirty="0">
                <a:solidFill>
                  <a:srgbClr val="C44D58"/>
                </a:solidFill>
              </a:rPr>
              <a:t>Key Achievements</a:t>
            </a:r>
            <a:endParaRPr lang="en-US" sz="1000" dirty="0"/>
          </a:p>
        </p:txBody>
      </p:sp>
      <p:sp>
        <p:nvSpPr>
          <p:cNvPr id="8" name="Text 5"/>
          <p:cNvSpPr/>
          <p:nvPr/>
        </p:nvSpPr>
        <p:spPr>
          <a:xfrm>
            <a:off x="428625" y="1763055"/>
            <a:ext cx="831959" cy="136256"/>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1A1A1A"/>
                </a:solidFill>
              </a:rPr>
              <a:t>Data Governance</a:t>
            </a:r>
            <a:endParaRPr lang="en-US" sz="900" dirty="0"/>
          </a:p>
        </p:txBody>
      </p:sp>
      <p:sp>
        <p:nvSpPr>
          <p:cNvPr id="9" name="Text 6"/>
          <p:cNvSpPr/>
          <p:nvPr/>
        </p:nvSpPr>
        <p:spPr>
          <a:xfrm>
            <a:off x="428625" y="1975582"/>
            <a:ext cx="4036219" cy="320018"/>
          </a:xfrm>
          <a:prstGeom prst="rect">
            <a:avLst/>
          </a:prstGeom>
          <a:noFill/>
          <a:ln/>
        </p:spPr>
        <p:txBody>
          <a:bodyPr wrap="square" lIns="0" tIns="0" rIns="0" bIns="0" rtlCol="0" anchor="t">
            <a:spAutoFit/>
          </a:bodyPr>
          <a:lstStyle/>
          <a:p>
            <a:pPr marL="0" indent="0" algn="l">
              <a:lnSpc>
                <a:spcPts val="1300"/>
              </a:lnSpc>
              <a:buNone/>
            </a:pPr>
            <a:r>
              <a:rPr lang="en-US" sz="900" dirty="0">
                <a:solidFill>
                  <a:srgbClr val="333333"/>
                </a:solidFill>
              </a:rPr>
              <a:t>Established a clear, auditable 3-layer Medallion Architecture (Bronze, Silver, Gold) ensuring data quality and consistency at each stage.</a:t>
            </a:r>
            <a:endParaRPr lang="en-US" sz="900" dirty="0"/>
          </a:p>
        </p:txBody>
      </p:sp>
      <p:sp>
        <p:nvSpPr>
          <p:cNvPr id="10" name="Text 7"/>
          <p:cNvSpPr/>
          <p:nvPr/>
        </p:nvSpPr>
        <p:spPr>
          <a:xfrm>
            <a:off x="4679156" y="1763055"/>
            <a:ext cx="604333" cy="136256"/>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1A1A1A"/>
                </a:solidFill>
              </a:rPr>
              <a:t>Data Quality</a:t>
            </a:r>
            <a:endParaRPr lang="en-US" sz="900" dirty="0"/>
          </a:p>
        </p:txBody>
      </p:sp>
      <p:sp>
        <p:nvSpPr>
          <p:cNvPr id="11" name="Text 8"/>
          <p:cNvSpPr/>
          <p:nvPr/>
        </p:nvSpPr>
        <p:spPr>
          <a:xfrm>
            <a:off x="4679156" y="1975582"/>
            <a:ext cx="4036219" cy="320018"/>
          </a:xfrm>
          <a:prstGeom prst="rect">
            <a:avLst/>
          </a:prstGeom>
          <a:noFill/>
          <a:ln/>
        </p:spPr>
        <p:txBody>
          <a:bodyPr wrap="square" lIns="0" tIns="0" rIns="0" bIns="0" rtlCol="0" anchor="t">
            <a:spAutoFit/>
          </a:bodyPr>
          <a:lstStyle/>
          <a:p>
            <a:pPr marL="0" indent="0" algn="l">
              <a:lnSpc>
                <a:spcPts val="1300"/>
              </a:lnSpc>
              <a:buNone/>
            </a:pPr>
            <a:r>
              <a:rPr lang="en-US" sz="900" dirty="0">
                <a:solidFill>
                  <a:srgbClr val="333333"/>
                </a:solidFill>
              </a:rPr>
              <a:t>Implemented Star Schema design in Silver layer with Fact and Dimension tables, enforcing referential integrity and data consistency.</a:t>
            </a:r>
            <a:endParaRPr lang="en-US" sz="900" dirty="0"/>
          </a:p>
        </p:txBody>
      </p:sp>
      <p:sp>
        <p:nvSpPr>
          <p:cNvPr id="12" name="Text 9"/>
          <p:cNvSpPr/>
          <p:nvPr/>
        </p:nvSpPr>
        <p:spPr>
          <a:xfrm>
            <a:off x="428625" y="2509912"/>
            <a:ext cx="716543" cy="136256"/>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1A1A1A"/>
                </a:solidFill>
              </a:rPr>
              <a:t>Business Value</a:t>
            </a:r>
            <a:endParaRPr lang="en-US" sz="900" dirty="0"/>
          </a:p>
        </p:txBody>
      </p:sp>
      <p:sp>
        <p:nvSpPr>
          <p:cNvPr id="13" name="Text 10"/>
          <p:cNvSpPr/>
          <p:nvPr/>
        </p:nvSpPr>
        <p:spPr>
          <a:xfrm>
            <a:off x="428625" y="2722438"/>
            <a:ext cx="4036219" cy="320018"/>
          </a:xfrm>
          <a:prstGeom prst="rect">
            <a:avLst/>
          </a:prstGeom>
          <a:noFill/>
          <a:ln/>
        </p:spPr>
        <p:txBody>
          <a:bodyPr wrap="square" lIns="0" tIns="0" rIns="0" bIns="0" rtlCol="0" anchor="t">
            <a:spAutoFit/>
          </a:bodyPr>
          <a:lstStyle/>
          <a:p>
            <a:pPr marL="0" indent="0" algn="l">
              <a:lnSpc>
                <a:spcPts val="1300"/>
              </a:lnSpc>
              <a:buNone/>
            </a:pPr>
            <a:r>
              <a:rPr lang="en-US" sz="900" dirty="0">
                <a:solidFill>
                  <a:srgbClr val="333333"/>
                </a:solidFill>
              </a:rPr>
              <a:t>Created three high-value Gold layer reports (Brand Performance, Category Inventory, Price Tier Analysis) directly supporting business decisions.</a:t>
            </a:r>
            <a:endParaRPr lang="en-US" sz="900" dirty="0"/>
          </a:p>
        </p:txBody>
      </p:sp>
      <p:sp>
        <p:nvSpPr>
          <p:cNvPr id="14" name="Text 11"/>
          <p:cNvSpPr/>
          <p:nvPr/>
        </p:nvSpPr>
        <p:spPr>
          <a:xfrm>
            <a:off x="4679156" y="2509912"/>
            <a:ext cx="763029" cy="136256"/>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1A1A1A"/>
                </a:solidFill>
              </a:rPr>
              <a:t>Future-Proofing</a:t>
            </a:r>
            <a:endParaRPr lang="en-US" sz="900" dirty="0"/>
          </a:p>
        </p:txBody>
      </p:sp>
      <p:sp>
        <p:nvSpPr>
          <p:cNvPr id="15" name="Text 12"/>
          <p:cNvSpPr/>
          <p:nvPr/>
        </p:nvSpPr>
        <p:spPr>
          <a:xfrm>
            <a:off x="4679156" y="2722438"/>
            <a:ext cx="4036219" cy="320018"/>
          </a:xfrm>
          <a:prstGeom prst="rect">
            <a:avLst/>
          </a:prstGeom>
          <a:noFill/>
          <a:ln/>
        </p:spPr>
        <p:txBody>
          <a:bodyPr wrap="square" lIns="0" tIns="0" rIns="0" bIns="0" rtlCol="0" anchor="t">
            <a:spAutoFit/>
          </a:bodyPr>
          <a:lstStyle/>
          <a:p>
            <a:pPr marL="0" indent="0" algn="l">
              <a:lnSpc>
                <a:spcPts val="1300"/>
              </a:lnSpc>
              <a:buNone/>
            </a:pPr>
            <a:r>
              <a:rPr lang="en-US" sz="900" dirty="0">
                <a:solidFill>
                  <a:srgbClr val="333333"/>
                </a:solidFill>
              </a:rPr>
              <a:t>Demonstrated incremental data loading capabilities and laid the foundation for advanced AI/Cortex services integration.</a:t>
            </a:r>
            <a:endParaRPr lang="en-US" sz="900" dirty="0"/>
          </a:p>
        </p:txBody>
      </p:sp>
      <p:sp>
        <p:nvSpPr>
          <p:cNvPr id="16" name="Shape 13"/>
          <p:cNvSpPr/>
          <p:nvPr/>
        </p:nvSpPr>
        <p:spPr>
          <a:xfrm>
            <a:off x="428625" y="4129115"/>
            <a:ext cx="8286750" cy="1014385"/>
          </a:xfrm>
          <a:prstGeom prst="rect">
            <a:avLst/>
          </a:prstGeom>
          <a:solidFill>
            <a:srgbClr val="FFF9F7"/>
          </a:solidFill>
          <a:ln/>
        </p:spPr>
        <p:txBody>
          <a:bodyPr/>
          <a:lstStyle/>
          <a:p>
            <a:endParaRPr lang="en-US" sz="2400"/>
          </a:p>
        </p:txBody>
      </p:sp>
      <p:sp>
        <p:nvSpPr>
          <p:cNvPr id="17" name="Shape 14"/>
          <p:cNvSpPr/>
          <p:nvPr/>
        </p:nvSpPr>
        <p:spPr>
          <a:xfrm>
            <a:off x="428625" y="4129115"/>
            <a:ext cx="28575" cy="1014385"/>
          </a:xfrm>
          <a:prstGeom prst="rect">
            <a:avLst/>
          </a:prstGeom>
          <a:solidFill>
            <a:srgbClr val="C44D58"/>
          </a:solidFill>
          <a:ln/>
        </p:spPr>
        <p:txBody>
          <a:bodyPr/>
          <a:lstStyle/>
          <a:p>
            <a:endParaRPr lang="en-US" sz="2400"/>
          </a:p>
        </p:txBody>
      </p:sp>
      <p:sp>
        <p:nvSpPr>
          <p:cNvPr id="18" name="Text 15"/>
          <p:cNvSpPr/>
          <p:nvPr/>
        </p:nvSpPr>
        <p:spPr>
          <a:xfrm>
            <a:off x="571500" y="4298779"/>
            <a:ext cx="7611058" cy="208647"/>
          </a:xfrm>
          <a:prstGeom prst="rect">
            <a:avLst/>
          </a:prstGeom>
          <a:noFill/>
          <a:ln/>
        </p:spPr>
        <p:txBody>
          <a:bodyPr wrap="none" lIns="0" tIns="0" rIns="0" bIns="0" rtlCol="0" anchor="t">
            <a:spAutoFit/>
          </a:bodyPr>
          <a:lstStyle/>
          <a:p>
            <a:pPr marL="0" indent="0" algn="l">
              <a:lnSpc>
                <a:spcPts val="1800"/>
              </a:lnSpc>
              <a:buNone/>
            </a:pPr>
            <a:r>
              <a:rPr lang="en-US" sz="1050" i="1" dirty="0">
                <a:solidFill>
                  <a:srgbClr val="1A1A1A"/>
                </a:solidFill>
              </a:rPr>
              <a:t>"A successful data warehouse transforms raw data into strategic assets, enabling organizations to make informed decisions with confidence</a:t>
            </a:r>
            <a:endParaRPr lang="en-US" sz="1050" dirty="0"/>
          </a:p>
        </p:txBody>
      </p:sp>
      <p:sp>
        <p:nvSpPr>
          <p:cNvPr id="19" name="Text 16"/>
          <p:cNvSpPr/>
          <p:nvPr/>
        </p:nvSpPr>
        <p:spPr>
          <a:xfrm>
            <a:off x="571500" y="4530226"/>
            <a:ext cx="660437" cy="208647"/>
          </a:xfrm>
          <a:prstGeom prst="rect">
            <a:avLst/>
          </a:prstGeom>
          <a:noFill/>
          <a:ln/>
        </p:spPr>
        <p:txBody>
          <a:bodyPr wrap="none" lIns="0" tIns="0" rIns="0" bIns="0" rtlCol="0" anchor="t">
            <a:spAutoFit/>
          </a:bodyPr>
          <a:lstStyle/>
          <a:p>
            <a:pPr marL="0" indent="0" algn="l">
              <a:lnSpc>
                <a:spcPts val="1800"/>
              </a:lnSpc>
              <a:buNone/>
            </a:pPr>
            <a:r>
              <a:rPr lang="en-US" sz="1050" i="1" dirty="0">
                <a:solidFill>
                  <a:srgbClr val="1A1A1A"/>
                </a:solidFill>
              </a:rPr>
              <a:t>and agility."</a:t>
            </a:r>
            <a:endParaRPr lang="en-US" sz="1050" dirty="0"/>
          </a:p>
        </p:txBody>
      </p:sp>
      <p:sp>
        <p:nvSpPr>
          <p:cNvPr id="20" name="Text 17"/>
          <p:cNvSpPr/>
          <p:nvPr/>
        </p:nvSpPr>
        <p:spPr>
          <a:xfrm>
            <a:off x="6349134" y="4820608"/>
            <a:ext cx="2223366" cy="165110"/>
          </a:xfrm>
          <a:prstGeom prst="rect">
            <a:avLst/>
          </a:prstGeom>
          <a:noFill/>
          <a:ln/>
        </p:spPr>
        <p:txBody>
          <a:bodyPr wrap="none" lIns="0" tIns="0" rIns="0" bIns="0" rtlCol="0" anchor="t">
            <a:spAutoFit/>
          </a:bodyPr>
          <a:lstStyle/>
          <a:p>
            <a:pPr marL="0" indent="0" algn="r">
              <a:lnSpc>
                <a:spcPts val="1400"/>
              </a:lnSpc>
              <a:buNone/>
            </a:pPr>
            <a:r>
              <a:rPr lang="en-US" sz="900" dirty="0">
                <a:solidFill>
                  <a:srgbClr val="666666"/>
                </a:solidFill>
              </a:rPr>
              <a:t>— Team 226 | Fashion Data Warehouse Project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1406</TotalTime>
  <Words>1799</Words>
  <Application>Microsoft Macintosh PowerPoint</Application>
  <PresentationFormat>On-screen Show (16:9)</PresentationFormat>
  <Paragraphs>331</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Murugan, Pavithran</cp:lastModifiedBy>
  <cp:revision>68</cp:revision>
  <dcterms:created xsi:type="dcterms:W3CDTF">2025-12-02T06:06:48Z</dcterms:created>
  <dcterms:modified xsi:type="dcterms:W3CDTF">2025-12-04T01:30:11Z</dcterms:modified>
</cp:coreProperties>
</file>